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87cab3d94c4977" /><Relationship Type="http://schemas.openxmlformats.org/officeDocument/2006/relationships/extended-properties" Target="/docProps/app.xml" Id="Rc389134b3cc644c0" /><Relationship Type="http://schemas.openxmlformats.org/officeDocument/2006/relationships/officeDocument" Target="/ppt/presentation.xml" Id="R4a60be98924049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189f0b9c4e45b5"/>
  </p:sldMasterIdLst>
  <p:notesMasterIdLst>
    <p:notesMasterId xmlns:r="http://schemas.openxmlformats.org/officeDocument/2006/relationships" r:id="R1577cf3475ea4b1a"/>
  </p:notesMasterIdLst>
  <p:sldIdLst>
    <p:sldId xmlns:r="http://schemas.openxmlformats.org/officeDocument/2006/relationships" id="256" r:id="R5f5728d034a94b3f"/>
    <p:sldId xmlns:r="http://schemas.openxmlformats.org/officeDocument/2006/relationships" id="257" r:id="R8498370459864941"/>
    <p:sldId xmlns:r="http://schemas.openxmlformats.org/officeDocument/2006/relationships" id="258" r:id="R2a30c3d690454137"/>
    <p:sldId xmlns:r="http://schemas.openxmlformats.org/officeDocument/2006/relationships" id="259" r:id="R6f57d2e808cf46c4"/>
    <p:sldId xmlns:r="http://schemas.openxmlformats.org/officeDocument/2006/relationships" id="260" r:id="Raec1b100c2ef4d29"/>
    <p:sldId xmlns:r="http://schemas.openxmlformats.org/officeDocument/2006/relationships" id="261" r:id="R03726942256347e5"/>
    <p:sldId xmlns:r="http://schemas.openxmlformats.org/officeDocument/2006/relationships" id="262" r:id="Rb0591202ab584c70"/>
    <p:sldId xmlns:r="http://schemas.openxmlformats.org/officeDocument/2006/relationships" id="263" r:id="R12834cffa6084375"/>
    <p:sldId xmlns:r="http://schemas.openxmlformats.org/officeDocument/2006/relationships" id="264" r:id="R2c77a92f77e14e9d"/>
    <p:sldId xmlns:r="http://schemas.openxmlformats.org/officeDocument/2006/relationships" id="265" r:id="R891da4a5aebe4e5a"/>
    <p:sldId xmlns:r="http://schemas.openxmlformats.org/officeDocument/2006/relationships" id="266" r:id="R498a116b5f704246"/>
    <p:sldId xmlns:r="http://schemas.openxmlformats.org/officeDocument/2006/relationships" id="267" r:id="R256f28385b974fc1"/>
    <p:sldId xmlns:r="http://schemas.openxmlformats.org/officeDocument/2006/relationships" id="268" r:id="R8aac8272e70e407d"/>
    <p:sldId xmlns:r="http://schemas.openxmlformats.org/officeDocument/2006/relationships" id="269" r:id="R188dc32d2a9e4c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5e1afa41824a3f" /><Relationship Type="http://schemas.openxmlformats.org/officeDocument/2006/relationships/slideMaster" Target="/ppt/slideMasters/slideMaster1.xml" Id="Red189f0b9c4e45b5" /><Relationship Type="http://schemas.openxmlformats.org/officeDocument/2006/relationships/notesMaster" Target="/ppt/notesMasters/notesMaster1.xml" Id="R1577cf3475ea4b1a" /><Relationship Type="http://schemas.openxmlformats.org/officeDocument/2006/relationships/presProps" Target="/ppt/presProps.xml" Id="Re78e02ccb4544f59" /><Relationship Type="http://schemas.openxmlformats.org/officeDocument/2006/relationships/viewProps" Target="/ppt/viewProps.xml" Id="R6149a8f5dc194565" /><Relationship Type="http://schemas.openxmlformats.org/officeDocument/2006/relationships/tableStyles" Target="/ppt/tableStyles.xml" Id="R4eb67f4eca2c4cc6" /><Relationship Type="http://schemas.openxmlformats.org/officeDocument/2006/relationships/slide" Target="/ppt/slides/slide1.xml" Id="R5f5728d034a94b3f" /><Relationship Type="http://schemas.openxmlformats.org/officeDocument/2006/relationships/slide" Target="/ppt/slides/slide2.xml" Id="R8498370459864941" /><Relationship Type="http://schemas.openxmlformats.org/officeDocument/2006/relationships/slide" Target="/ppt/slides/slide3.xml" Id="R2a30c3d690454137" /><Relationship Type="http://schemas.openxmlformats.org/officeDocument/2006/relationships/slide" Target="/ppt/slides/slide4.xml" Id="R6f57d2e808cf46c4" /><Relationship Type="http://schemas.openxmlformats.org/officeDocument/2006/relationships/slide" Target="/ppt/slides/slide5.xml" Id="Raec1b100c2ef4d29" /><Relationship Type="http://schemas.openxmlformats.org/officeDocument/2006/relationships/slide" Target="/ppt/slides/slide6.xml" Id="R03726942256347e5" /><Relationship Type="http://schemas.openxmlformats.org/officeDocument/2006/relationships/slide" Target="/ppt/slides/slide7.xml" Id="Rb0591202ab584c70" /><Relationship Type="http://schemas.openxmlformats.org/officeDocument/2006/relationships/slide" Target="/ppt/slides/slide8.xml" Id="R12834cffa6084375" /><Relationship Type="http://schemas.openxmlformats.org/officeDocument/2006/relationships/slide" Target="/ppt/slides/slide9.xml" Id="R2c77a92f77e14e9d" /><Relationship Type="http://schemas.openxmlformats.org/officeDocument/2006/relationships/slide" Target="/ppt/slides/slide10.xml" Id="R891da4a5aebe4e5a" /><Relationship Type="http://schemas.openxmlformats.org/officeDocument/2006/relationships/slide" Target="/ppt/slides/slide11.xml" Id="R498a116b5f704246" /><Relationship Type="http://schemas.openxmlformats.org/officeDocument/2006/relationships/slide" Target="/ppt/slides/slide12.xml" Id="R256f28385b974fc1" /><Relationship Type="http://schemas.openxmlformats.org/officeDocument/2006/relationships/slide" Target="/ppt/slides/slide13.xml" Id="R8aac8272e70e407d" /><Relationship Type="http://schemas.openxmlformats.org/officeDocument/2006/relationships/slide" Target="/ppt/slides/slide14.xml" Id="R188dc32d2a9e4c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7a2bdd06d547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7b5d8d74364725" /><Relationship Type="http://schemas.openxmlformats.org/officeDocument/2006/relationships/notesMaster" Target="/ppt/notesMasters/notesMaster1.xml" Id="R013faf2755154f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4d52dfc5274909" /><Relationship Type="http://schemas.openxmlformats.org/officeDocument/2006/relationships/notesMaster" Target="/ppt/notesMasters/notesMaster1.xml" Id="Rb3e645a66f4840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d7f0e7fc664ba9" /><Relationship Type="http://schemas.openxmlformats.org/officeDocument/2006/relationships/notesMaster" Target="/ppt/notesMasters/notesMaster1.xml" Id="Ree02984f054947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3e80aef3be4604" /><Relationship Type="http://schemas.openxmlformats.org/officeDocument/2006/relationships/notesMaster" Target="/ppt/notesMasters/notesMaster1.xml" Id="R3f94a40ae21b4e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c4accd5fa348db" /><Relationship Type="http://schemas.openxmlformats.org/officeDocument/2006/relationships/notesMaster" Target="/ppt/notesMasters/notesMaster1.xml" Id="Rfa3eb7cae6834f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7e0c2eb9784031" /><Relationship Type="http://schemas.openxmlformats.org/officeDocument/2006/relationships/notesMaster" Target="/ppt/notesMasters/notesMaster1.xml" Id="R6d3bea5338c34c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16ead288ec414c" /><Relationship Type="http://schemas.openxmlformats.org/officeDocument/2006/relationships/notesMaster" Target="/ppt/notesMasters/notesMaster1.xml" Id="R5a8b988db95547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8ba2f0aa244719" /><Relationship Type="http://schemas.openxmlformats.org/officeDocument/2006/relationships/notesMaster" Target="/ppt/notesMasters/notesMaster1.xml" Id="Rc7e4f06afd8d49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563b88580a4c94" /><Relationship Type="http://schemas.openxmlformats.org/officeDocument/2006/relationships/notesMaster" Target="/ppt/notesMasters/notesMaster1.xml" Id="R79afee4dc81043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433db181914fa3" /><Relationship Type="http://schemas.openxmlformats.org/officeDocument/2006/relationships/notesMaster" Target="/ppt/notesMasters/notesMaster1.xml" Id="Rdec96ffde45b4b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3baf17fa08f412f" /><Relationship Type="http://schemas.openxmlformats.org/officeDocument/2006/relationships/notesMaster" Target="/ppt/notesMasters/notesMaster1.xml" Id="R5a54bf5d4a9648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7bc708c3e47494c" /><Relationship Type="http://schemas.openxmlformats.org/officeDocument/2006/relationships/notesMaster" Target="/ppt/notesMasters/notesMaster1.xml" Id="R456cd9e70ab545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ce2303df3da4833" /><Relationship Type="http://schemas.openxmlformats.org/officeDocument/2006/relationships/notesMaster" Target="/ppt/notesMasters/notesMaster1.xml" Id="R2d1c73a406964e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270930962a4e08" /><Relationship Type="http://schemas.openxmlformats.org/officeDocument/2006/relationships/notesMaster" Target="/ppt/notesMasters/notesMaster1.xml" Id="R537089f320cc49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d6fa8310846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571864713e4493" /><Relationship Type="http://schemas.openxmlformats.org/officeDocument/2006/relationships/slideLayout" Target="/ppt/slideLayouts/slideLayout1.xml" Id="R84a5c75f48554e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a5c75f48554e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55ae05c1d473f" /><Relationship Type="http://schemas.openxmlformats.org/officeDocument/2006/relationships/notesSlide" Target="/ppt/notesSlides/notesSlide1.xml" Id="Rcc5500602fa044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100c5f610467f" /><Relationship Type="http://schemas.openxmlformats.org/officeDocument/2006/relationships/notesSlide" Target="/ppt/notesSlides/notesSlide2.xml" Id="R2456912ae4954a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298256e8341ab" /><Relationship Type="http://schemas.openxmlformats.org/officeDocument/2006/relationships/notesSlide" Target="/ppt/notesSlides/notesSlide3.xml" Id="R63748392d4344f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bd66d595043e7" /><Relationship Type="http://schemas.openxmlformats.org/officeDocument/2006/relationships/notesSlide" Target="/ppt/notesSlides/notesSlide4.xml" Id="R2c0f1c2a1b774e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e74bf0afd4e43" /><Relationship Type="http://schemas.openxmlformats.org/officeDocument/2006/relationships/notesSlide" Target="/ppt/notesSlides/notesSlide5.xml" Id="Rc72eb7da8eed44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51dbd19db4789" /><Relationship Type="http://schemas.openxmlformats.org/officeDocument/2006/relationships/notesSlide" Target="/ppt/notesSlides/notesSlide6.xml" Id="R551b5069e1c949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d601d3e4040d4" /><Relationship Type="http://schemas.openxmlformats.org/officeDocument/2006/relationships/notesSlide" Target="/ppt/notesSlides/notesSlide7.xml" Id="Rea43cf95fb9444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8970e1d5746eb" /><Relationship Type="http://schemas.openxmlformats.org/officeDocument/2006/relationships/notesSlide" Target="/ppt/notesSlides/notesSlide8.xml" Id="R90911672e26e45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0c1a31f92c421d" /><Relationship Type="http://schemas.openxmlformats.org/officeDocument/2006/relationships/notesSlide" Target="/ppt/notesSlides/notesSlide9.xml" Id="R63b23a3ca22649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2b4ecc03d41cb" /><Relationship Type="http://schemas.openxmlformats.org/officeDocument/2006/relationships/notesSlide" Target="/ppt/notesSlides/notesSlide10.xml" Id="Rfc67b55cd84644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428a9eb37499a" /><Relationship Type="http://schemas.openxmlformats.org/officeDocument/2006/relationships/notesSlide" Target="/ppt/notesSlides/notesSlide11.xml" Id="R4bbc5a066a8c46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07b03694a433b" /><Relationship Type="http://schemas.openxmlformats.org/officeDocument/2006/relationships/notesSlide" Target="/ppt/notesSlides/notesSlide12.xml" Id="R4a85025457b743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c27b6d40a42fd" /><Relationship Type="http://schemas.openxmlformats.org/officeDocument/2006/relationships/notesSlide" Target="/ppt/notesSlides/notesSlide13.xml" Id="R096f3a2309b24d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7018ed32d4489a" /><Relationship Type="http://schemas.openxmlformats.org/officeDocument/2006/relationships/notesSlide" Target="/ppt/notesSlides/notesSlide14.xml" Id="Rdb14a9e24b4e494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F9A5A12-495B-4D13-8515-AD847D5A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2B223A"/>
            </a:solidFill>
            <a:prstDash val="solid"/>
          </a:ln>
        </p:spPr>
      </p:sp>
      <p:sp>
        <p:nvSpPr>
          <p:cNvPr id="2" name="brand-edge">
            <a:extLst xmlns:a="http://schemas.openxmlformats.org/drawingml/2006/main">
              <a:ext uri="{FF2B5EF4-FFF2-40B4-BE49-F238E27FC236}">
                <a16:creationId xmlns:a16="http://schemas.microsoft.com/office/drawing/2014/main" id="{6BDADE41-CD61-491A-B407-167F9861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brand-ananas">
            <a:extLst xmlns:a="http://schemas.openxmlformats.org/drawingml/2006/main">
              <a:ext uri="{FF2B5EF4-FFF2-40B4-BE49-F238E27FC236}">
                <a16:creationId xmlns:a16="http://schemas.microsoft.com/office/drawing/2014/main" id="{469C7B93-FD47-4D4A-A89F-E98FFDA0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00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АНАНАС</a:t>
            </a:r>
          </a:p>
        </p:txBody>
      </p:sp>
      <p:sp>
        <p:nvSpPr>
          <p:cNvPr id="4" name="brand-marketing">
            <a:extLst xmlns:a="http://schemas.openxmlformats.org/drawingml/2006/main">
              <a:ext uri="{FF2B5EF4-FFF2-40B4-BE49-F238E27FC236}">
                <a16:creationId xmlns:a16="http://schemas.microsoft.com/office/drawing/2014/main" id="{250BA065-D47D-40E9-BBA5-4C34CA44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191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МАРКЕТИНГ</a:t>
            </a:r>
          </a:p>
        </p:txBody>
      </p:sp>
      <p:sp>
        <p:nvSpPr>
          <p:cNvPr id="5" name="brand-subtitle">
            <a:extLst xmlns:a="http://schemas.openxmlformats.org/drawingml/2006/main">
              <a:ext uri="{FF2B5EF4-FFF2-40B4-BE49-F238E27FC236}">
                <a16:creationId xmlns:a16="http://schemas.microsoft.com/office/drawing/2014/main" id="{13813A5A-133C-4D8E-BAF4-D4C41BCB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C7D8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CFC7D8"/>
                </a:solidFill>
                <a:latin typeface="Manrope"/>
                <a:ea typeface="Manrope"/>
                <a:cs typeface="Manrope"/>
              </a:rPr>
              <a:t>Системный маркетинг для сервисного бизнеса</a:t>
            </a:r>
          </a:p>
        </p:txBody>
      </p:sp>
      <p:sp>
        <p:nvSpPr>
          <p:cNvPr id="6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54CC07A-3919-4E19-84CE-418CA950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76200" cy="3028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1566B7F-22E5-494F-8EF5-539D52B3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14450"/>
            <a:ext cx="7429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6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UNISEC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6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стратегия для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46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частных клиентов</a:t>
            </a:r>
          </a:p>
        </p:txBody>
      </p:sp>
      <p:sp>
        <p:nvSpPr>
          <p:cNvPr id="8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E567FD1-FDB8-42CE-B738-C8EBBB8E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7524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7E1EC"/>
                </a:solidFill>
                <a:latin typeface="Manrope"/>
                <a:ea typeface="Manrope"/>
                <a:cs typeface="Manrope"/>
              </a:defRPr>
            </a:pPr>
            <a:r>
              <a:rPr sz="1725" b="0">
                <a:solidFill>
                  <a:srgbClr val="E7E1EC"/>
                </a:solidFill>
                <a:latin typeface="Manrope"/>
                <a:ea typeface="Manrope"/>
                <a:cs typeface="Manrope"/>
              </a:rPr>
              <a:t>Начинаем с одного понятного заказа — сезонного гардероба семьи. Рекламу расширяем только после проверки результата и учёта заказов.</a:t>
            </a:r>
          </a:p>
        </p:txBody>
      </p:sp>
      <p:sp>
        <p:nvSpPr>
          <p:cNvPr id="9" name="cover-orbit">
            <a:extLst xmlns:a="http://schemas.openxmlformats.org/drawingml/2006/main">
              <a:ext uri="{FF2B5EF4-FFF2-40B4-BE49-F238E27FC236}">
                <a16:creationId xmlns:a16="http://schemas.microsoft.com/office/drawing/2014/main" id="{22025C6B-EC33-4D7D-99E5-2E2668AC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over-number">
            <a:extLst xmlns:a="http://schemas.openxmlformats.org/drawingml/2006/main">
              <a:ext uri="{FF2B5EF4-FFF2-40B4-BE49-F238E27FC236}">
                <a16:creationId xmlns:a16="http://schemas.microsoft.com/office/drawing/2014/main" id="{0F1F79B5-C4CB-42C9-817C-7F400ED2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66900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5400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2–5</a:t>
            </a:r>
          </a:p>
        </p:txBody>
      </p:sp>
      <p:sp>
        <p:nvSpPr>
          <p:cNvPr id="11" name="cover-number-label">
            <a:extLst xmlns:a="http://schemas.openxmlformats.org/drawingml/2006/main">
              <a:ext uri="{FF2B5EF4-FFF2-40B4-BE49-F238E27FC236}">
                <a16:creationId xmlns:a16="http://schemas.microsoft.com/office/drawing/2014/main" id="{9CB6D2D9-B77C-4104-A3CB-5E8AE394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432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вещей в первом</a:t>
            </a:r>
          </a:p>
          <a:p xmlns:a="http://schemas.openxmlformats.org/drawingml/2006/main">
            <a:pPr algn="ctr">
              <a:defRPr sz="1425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семейном заказе</a:t>
            </a:r>
          </a:p>
        </p:txBody>
      </p:sp>
      <p:sp>
        <p:nvSpPr>
          <p:cNvPr id="12" name="cover-rail-rule">
            <a:extLst xmlns:a="http://schemas.openxmlformats.org/drawingml/2006/main">
              <a:ext uri="{FF2B5EF4-FFF2-40B4-BE49-F238E27FC236}">
                <a16:creationId xmlns:a16="http://schemas.microsoft.com/office/drawing/2014/main" id="{339C1111-8C5A-42FF-B90F-6232A2B0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4C6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ail-0-label">
            <a:extLst xmlns:a="http://schemas.openxmlformats.org/drawingml/2006/main">
              <a:ext uri="{FF2B5EF4-FFF2-40B4-BE49-F238E27FC236}">
                <a16:creationId xmlns:a16="http://schemas.microsoft.com/office/drawing/2014/main" id="{4A31A63A-70D1-4389-8B61-6670C7B3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ФОКУС</a:t>
            </a:r>
          </a:p>
        </p:txBody>
      </p:sp>
      <p:sp>
        <p:nvSpPr>
          <p:cNvPr id="14" name="rail-0-value">
            <a:extLst xmlns:a="http://schemas.openxmlformats.org/drawingml/2006/main">
              <a:ext uri="{FF2B5EF4-FFF2-40B4-BE49-F238E27FC236}">
                <a16:creationId xmlns:a16="http://schemas.microsoft.com/office/drawing/2014/main" id="{B75A4DFC-750C-4AB3-934D-0273EF00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верхняя одежда</a:t>
            </a:r>
          </a:p>
        </p:txBody>
      </p:sp>
      <p:sp>
        <p:nvSpPr>
          <p:cNvPr id="15" name="rail-1-label">
            <a:extLst xmlns:a="http://schemas.openxmlformats.org/drawingml/2006/main">
              <a:ext uri="{FF2B5EF4-FFF2-40B4-BE49-F238E27FC236}">
                <a16:creationId xmlns:a16="http://schemas.microsoft.com/office/drawing/2014/main" id="{470B64E2-0E79-4F2D-940A-EF6AB37C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5816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ГЕОГРАФИЯ</a:t>
            </a:r>
          </a:p>
        </p:txBody>
      </p:sp>
      <p:sp>
        <p:nvSpPr>
          <p:cNvPr id="16" name="rail-1-value">
            <a:extLst xmlns:a="http://schemas.openxmlformats.org/drawingml/2006/main">
              <a:ext uri="{FF2B5EF4-FFF2-40B4-BE49-F238E27FC236}">
                <a16:creationId xmlns:a16="http://schemas.microsoft.com/office/drawing/2014/main" id="{7B77522D-5FC4-46C7-9038-E4B6C2EC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8293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Новосибирск</a:t>
            </a:r>
          </a:p>
        </p:txBody>
      </p:sp>
      <p:sp>
        <p:nvSpPr>
          <p:cNvPr id="17" name="rail-2-label">
            <a:extLst xmlns:a="http://schemas.openxmlformats.org/drawingml/2006/main">
              <a:ext uri="{FF2B5EF4-FFF2-40B4-BE49-F238E27FC236}">
                <a16:creationId xmlns:a16="http://schemas.microsoft.com/office/drawing/2014/main" id="{320C511C-1414-41BB-A612-539C8E40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5816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РЕЖИМ</a:t>
            </a:r>
          </a:p>
        </p:txBody>
      </p:sp>
      <p:sp>
        <p:nvSpPr>
          <p:cNvPr id="18" name="rail-2-value">
            <a:extLst xmlns:a="http://schemas.openxmlformats.org/drawingml/2006/main">
              <a:ext uri="{FF2B5EF4-FFF2-40B4-BE49-F238E27FC236}">
                <a16:creationId xmlns:a16="http://schemas.microsoft.com/office/drawing/2014/main" id="{608ECE80-CD4E-411A-87FD-78AE4816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8293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6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внешний этап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BAAFDCC-B212-48F6-BA33-C35C566B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4C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466474A-E147-4319-8C0F-5173FD24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FC7D8"/>
                </a:solidFill>
                <a:latin typeface="Manrope"/>
                <a:ea typeface="Manrope"/>
                <a:cs typeface="Manrope"/>
              </a:defRPr>
            </a:pPr>
            <a:r>
              <a:rPr sz="750" b="0">
                <a:solidFill>
                  <a:srgbClr val="CFC7D8"/>
                </a:solidFill>
                <a:latin typeface="Manrope"/>
                <a:ea typeface="Manrope"/>
                <a:cs typeface="Manrope"/>
              </a:rPr>
              <a:t>UNISEC × АНАНАС МАРКЕТИНГ · 11 августа 2026</a:t>
            </a:r>
          </a:p>
        </p:txBody>
      </p:sp>
      <p:sp>
        <p:nvSpPr>
          <p:cNvPr id="21" name="page-marker">
            <a:extLst xmlns:a="http://schemas.openxmlformats.org/drawingml/2006/main">
              <a:ext uri="{FF2B5EF4-FFF2-40B4-BE49-F238E27FC236}">
                <a16:creationId xmlns:a16="http://schemas.microsoft.com/office/drawing/2014/main" id="{98185E27-B3CC-417F-A343-0F12F75F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973332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0BCF9E0-5698-4584-8E4A-C4A27F23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A"/>
          </a:solidFill>
          <a:ln xmlns:a="http://schemas.openxmlformats.org/drawingml/2006/main" w="0">
            <a:solidFill>
              <a:srgbClr val="F7F5FA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FFB9B574-6C42-4930-98C5-DEE36297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666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40F612AD-F5DC-474C-AC6C-ECCE8FF0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ДИАГНОЗ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4B6DB6-F2C0-4A84-BD45-757E7997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30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Стратегию уже можно собрать. Увеличивать рекламу — ещё рано.</a:t>
            </a:r>
          </a:p>
        </p:txBody>
      </p:sp>
      <p:sp>
        <p:nvSpPr>
          <p:cNvPr id="5" name="matrix-title">
            <a:extLst xmlns:a="http://schemas.openxmlformats.org/drawingml/2006/main">
              <a:ext uri="{FF2B5EF4-FFF2-40B4-BE49-F238E27FC236}">
                <a16:creationId xmlns:a16="http://schemas.microsoft.com/office/drawing/2014/main" id="{A42D09E8-90B6-4078-BEF7-4F3EADA0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58 факторов</a:t>
            </a:r>
          </a:p>
        </p:txBody>
      </p:sp>
      <p:sp>
        <p:nvSpPr>
          <p:cNvPr id="6" name="matrix-legend">
            <a:extLst xmlns:a="http://schemas.openxmlformats.org/drawingml/2006/main">
              <a:ext uri="{FF2B5EF4-FFF2-40B4-BE49-F238E27FC236}">
                <a16:creationId xmlns:a16="http://schemas.microsoft.com/office/drawing/2014/main" id="{A6CBDA94-D3AF-4844-BC67-6A41028A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Жёлтый — видно снаружи · Серый — нужны внутренние данные</a:t>
            </a:r>
          </a:p>
        </p:txBody>
      </p:sp>
      <p:sp>
        <p:nvSpPr>
          <p:cNvPr id="7" name="factor-01">
            <a:extLst xmlns:a="http://schemas.openxmlformats.org/drawingml/2006/main">
              <a:ext uri="{FF2B5EF4-FFF2-40B4-BE49-F238E27FC236}">
                <a16:creationId xmlns:a16="http://schemas.microsoft.com/office/drawing/2014/main" id="{408EAAAE-2581-4E96-BC70-AEDBF1F3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factor-02">
            <a:extLst xmlns:a="http://schemas.openxmlformats.org/drawingml/2006/main">
              <a:ext uri="{FF2B5EF4-FFF2-40B4-BE49-F238E27FC236}">
                <a16:creationId xmlns:a16="http://schemas.microsoft.com/office/drawing/2014/main" id="{C961D1AE-FF10-4B89-B4C0-76530DA1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857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factor-03">
            <a:extLst xmlns:a="http://schemas.openxmlformats.org/drawingml/2006/main">
              <a:ext uri="{FF2B5EF4-FFF2-40B4-BE49-F238E27FC236}">
                <a16:creationId xmlns:a16="http://schemas.microsoft.com/office/drawing/2014/main" id="{34DC4CB8-7418-4E91-81C6-995DC84B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57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factor-04">
            <a:extLst xmlns:a="http://schemas.openxmlformats.org/drawingml/2006/main">
              <a:ext uri="{FF2B5EF4-FFF2-40B4-BE49-F238E27FC236}">
                <a16:creationId xmlns:a16="http://schemas.microsoft.com/office/drawing/2014/main" id="{0BE04436-DF0F-442F-8A38-2EFDDE01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857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factor-05">
            <a:extLst xmlns:a="http://schemas.openxmlformats.org/drawingml/2006/main">
              <a:ext uri="{FF2B5EF4-FFF2-40B4-BE49-F238E27FC236}">
                <a16:creationId xmlns:a16="http://schemas.microsoft.com/office/drawing/2014/main" id="{DB8D10B4-BA15-4BBB-83FF-C9EA5041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57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factor-06">
            <a:extLst xmlns:a="http://schemas.openxmlformats.org/drawingml/2006/main">
              <a:ext uri="{FF2B5EF4-FFF2-40B4-BE49-F238E27FC236}">
                <a16:creationId xmlns:a16="http://schemas.microsoft.com/office/drawing/2014/main" id="{8508D9E7-6F40-4BF2-BFB3-D052EEAC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57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factor-07">
            <a:extLst xmlns:a="http://schemas.openxmlformats.org/drawingml/2006/main">
              <a:ext uri="{FF2B5EF4-FFF2-40B4-BE49-F238E27FC236}">
                <a16:creationId xmlns:a16="http://schemas.microsoft.com/office/drawing/2014/main" id="{FF15C4F9-B9EB-426C-94DD-ADCB62F2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57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factor-08">
            <a:extLst xmlns:a="http://schemas.openxmlformats.org/drawingml/2006/main">
              <a:ext uri="{FF2B5EF4-FFF2-40B4-BE49-F238E27FC236}">
                <a16:creationId xmlns:a16="http://schemas.microsoft.com/office/drawing/2014/main" id="{CA8F9B4E-7380-4E4A-94E5-68A74E98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57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factor-09">
            <a:extLst xmlns:a="http://schemas.openxmlformats.org/drawingml/2006/main">
              <a:ext uri="{FF2B5EF4-FFF2-40B4-BE49-F238E27FC236}">
                <a16:creationId xmlns:a16="http://schemas.microsoft.com/office/drawing/2014/main" id="{46466B55-2F56-4145-87BC-19B5173A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57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factor-10">
            <a:extLst xmlns:a="http://schemas.openxmlformats.org/drawingml/2006/main">
              <a:ext uri="{FF2B5EF4-FFF2-40B4-BE49-F238E27FC236}">
                <a16:creationId xmlns:a16="http://schemas.microsoft.com/office/drawing/2014/main" id="{C00F3A06-89E0-42BE-9D1F-59B74E16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factor-11">
            <a:extLst xmlns:a="http://schemas.openxmlformats.org/drawingml/2006/main">
              <a:ext uri="{FF2B5EF4-FFF2-40B4-BE49-F238E27FC236}">
                <a16:creationId xmlns:a16="http://schemas.microsoft.com/office/drawing/2014/main" id="{F3934D07-06D4-4E43-BCDB-BCA056C1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factor-12">
            <a:extLst xmlns:a="http://schemas.openxmlformats.org/drawingml/2006/main">
              <a:ext uri="{FF2B5EF4-FFF2-40B4-BE49-F238E27FC236}">
                <a16:creationId xmlns:a16="http://schemas.microsoft.com/office/drawing/2014/main" id="{F163444F-3C5A-409E-B6F5-D1ADD0C2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267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factor-13">
            <a:extLst xmlns:a="http://schemas.openxmlformats.org/drawingml/2006/main">
              <a:ext uri="{FF2B5EF4-FFF2-40B4-BE49-F238E27FC236}">
                <a16:creationId xmlns:a16="http://schemas.microsoft.com/office/drawing/2014/main" id="{88E58124-D325-430D-B4B2-4174687C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67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actor-14">
            <a:extLst xmlns:a="http://schemas.openxmlformats.org/drawingml/2006/main">
              <a:ext uri="{FF2B5EF4-FFF2-40B4-BE49-F238E27FC236}">
                <a16:creationId xmlns:a16="http://schemas.microsoft.com/office/drawing/2014/main" id="{5F75B558-1356-44C6-A058-4B4BA2C9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267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factor-15">
            <a:extLst xmlns:a="http://schemas.openxmlformats.org/drawingml/2006/main">
              <a:ext uri="{FF2B5EF4-FFF2-40B4-BE49-F238E27FC236}">
                <a16:creationId xmlns:a16="http://schemas.microsoft.com/office/drawing/2014/main" id="{BEBEA00F-0FC2-4C28-9EDE-2FD5EBC4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67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factor-16">
            <a:extLst xmlns:a="http://schemas.openxmlformats.org/drawingml/2006/main">
              <a:ext uri="{FF2B5EF4-FFF2-40B4-BE49-F238E27FC236}">
                <a16:creationId xmlns:a16="http://schemas.microsoft.com/office/drawing/2014/main" id="{BC1CA1A0-0781-45B9-91EE-7A5307BF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67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factor-17">
            <a:extLst xmlns:a="http://schemas.openxmlformats.org/drawingml/2006/main">
              <a:ext uri="{FF2B5EF4-FFF2-40B4-BE49-F238E27FC236}">
                <a16:creationId xmlns:a16="http://schemas.microsoft.com/office/drawing/2014/main" id="{936F3D09-F78D-484A-92E3-5060299C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67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factor-18">
            <a:extLst xmlns:a="http://schemas.openxmlformats.org/drawingml/2006/main">
              <a:ext uri="{FF2B5EF4-FFF2-40B4-BE49-F238E27FC236}">
                <a16:creationId xmlns:a16="http://schemas.microsoft.com/office/drawing/2014/main" id="{D4436506-CFA4-4A44-8E79-B1064ABF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67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factor-19">
            <a:extLst xmlns:a="http://schemas.openxmlformats.org/drawingml/2006/main">
              <a:ext uri="{FF2B5EF4-FFF2-40B4-BE49-F238E27FC236}">
                <a16:creationId xmlns:a16="http://schemas.microsoft.com/office/drawing/2014/main" id="{8C22F684-F994-4D59-B93E-856DC8E7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267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factor-20">
            <a:extLst xmlns:a="http://schemas.openxmlformats.org/drawingml/2006/main">
              <a:ext uri="{FF2B5EF4-FFF2-40B4-BE49-F238E27FC236}">
                <a16:creationId xmlns:a16="http://schemas.microsoft.com/office/drawing/2014/main" id="{95B5E2D0-E9FC-4785-854B-7BA0008C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670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actor-21">
            <a:extLst xmlns:a="http://schemas.openxmlformats.org/drawingml/2006/main">
              <a:ext uri="{FF2B5EF4-FFF2-40B4-BE49-F238E27FC236}">
                <a16:creationId xmlns:a16="http://schemas.microsoft.com/office/drawing/2014/main" id="{7123F0BC-B3C3-46AD-A982-3F192378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factor-22">
            <a:extLst xmlns:a="http://schemas.openxmlformats.org/drawingml/2006/main">
              <a:ext uri="{FF2B5EF4-FFF2-40B4-BE49-F238E27FC236}">
                <a16:creationId xmlns:a16="http://schemas.microsoft.com/office/drawing/2014/main" id="{3515FAF3-E9EB-40A6-A5FE-36BA83DD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6766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actor-23">
            <a:extLst xmlns:a="http://schemas.openxmlformats.org/drawingml/2006/main">
              <a:ext uri="{FF2B5EF4-FFF2-40B4-BE49-F238E27FC236}">
                <a16:creationId xmlns:a16="http://schemas.microsoft.com/office/drawing/2014/main" id="{C6C0373B-8819-4F38-B0B8-7F73CFE5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766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factor-24">
            <a:extLst xmlns:a="http://schemas.openxmlformats.org/drawingml/2006/main">
              <a:ext uri="{FF2B5EF4-FFF2-40B4-BE49-F238E27FC236}">
                <a16:creationId xmlns:a16="http://schemas.microsoft.com/office/drawing/2014/main" id="{DA40A5DD-37CC-4207-A99C-D5CEDC43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766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factor-25">
            <a:extLst xmlns:a="http://schemas.openxmlformats.org/drawingml/2006/main">
              <a:ext uri="{FF2B5EF4-FFF2-40B4-BE49-F238E27FC236}">
                <a16:creationId xmlns:a16="http://schemas.microsoft.com/office/drawing/2014/main" id="{04454BEE-6575-4BB9-99E5-B35BF080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766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factor-26">
            <a:extLst xmlns:a="http://schemas.openxmlformats.org/drawingml/2006/main">
              <a:ext uri="{FF2B5EF4-FFF2-40B4-BE49-F238E27FC236}">
                <a16:creationId xmlns:a16="http://schemas.microsoft.com/office/drawing/2014/main" id="{625015ED-C03D-47B9-A4B6-663287B8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6766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factor-27">
            <a:extLst xmlns:a="http://schemas.openxmlformats.org/drawingml/2006/main">
              <a:ext uri="{FF2B5EF4-FFF2-40B4-BE49-F238E27FC236}">
                <a16:creationId xmlns:a16="http://schemas.microsoft.com/office/drawing/2014/main" id="{E4543AF2-72FC-4DD3-9720-49623001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766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factor-28">
            <a:extLst xmlns:a="http://schemas.openxmlformats.org/drawingml/2006/main">
              <a:ext uri="{FF2B5EF4-FFF2-40B4-BE49-F238E27FC236}">
                <a16:creationId xmlns:a16="http://schemas.microsoft.com/office/drawing/2014/main" id="{6D912944-4F41-4450-A8DA-96302D5D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6766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actor-29">
            <a:extLst xmlns:a="http://schemas.openxmlformats.org/drawingml/2006/main">
              <a:ext uri="{FF2B5EF4-FFF2-40B4-BE49-F238E27FC236}">
                <a16:creationId xmlns:a16="http://schemas.microsoft.com/office/drawing/2014/main" id="{52118613-FBDC-4D7E-98BE-13D8E68A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766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factor-30">
            <a:extLst xmlns:a="http://schemas.openxmlformats.org/drawingml/2006/main">
              <a:ext uri="{FF2B5EF4-FFF2-40B4-BE49-F238E27FC236}">
                <a16:creationId xmlns:a16="http://schemas.microsoft.com/office/drawing/2014/main" id="{C55BD098-A380-4AFD-89D0-AA4CF86E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766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factor-31">
            <a:extLst xmlns:a="http://schemas.openxmlformats.org/drawingml/2006/main">
              <a:ext uri="{FF2B5EF4-FFF2-40B4-BE49-F238E27FC236}">
                <a16:creationId xmlns:a16="http://schemas.microsoft.com/office/drawing/2014/main" id="{64EC9436-B5EE-48DF-B76C-1163B825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86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factor-32">
            <a:extLst xmlns:a="http://schemas.openxmlformats.org/drawingml/2006/main">
              <a:ext uri="{FF2B5EF4-FFF2-40B4-BE49-F238E27FC236}">
                <a16:creationId xmlns:a16="http://schemas.microsoft.com/office/drawing/2014/main" id="{C6005E38-9379-4DA9-B563-941C416F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086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factor-33">
            <a:extLst xmlns:a="http://schemas.openxmlformats.org/drawingml/2006/main">
              <a:ext uri="{FF2B5EF4-FFF2-40B4-BE49-F238E27FC236}">
                <a16:creationId xmlns:a16="http://schemas.microsoft.com/office/drawing/2014/main" id="{6DF62077-5886-443D-8605-3DCF087B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86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factor-34">
            <a:extLst xmlns:a="http://schemas.openxmlformats.org/drawingml/2006/main">
              <a:ext uri="{FF2B5EF4-FFF2-40B4-BE49-F238E27FC236}">
                <a16:creationId xmlns:a16="http://schemas.microsoft.com/office/drawing/2014/main" id="{7CFFC0FA-B58D-44CC-900C-8963B5B6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086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factor-35">
            <a:extLst xmlns:a="http://schemas.openxmlformats.org/drawingml/2006/main">
              <a:ext uri="{FF2B5EF4-FFF2-40B4-BE49-F238E27FC236}">
                <a16:creationId xmlns:a16="http://schemas.microsoft.com/office/drawing/2014/main" id="{5AB2E530-C268-48DF-B549-34B11A54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86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factor-36">
            <a:extLst xmlns:a="http://schemas.openxmlformats.org/drawingml/2006/main">
              <a:ext uri="{FF2B5EF4-FFF2-40B4-BE49-F238E27FC236}">
                <a16:creationId xmlns:a16="http://schemas.microsoft.com/office/drawing/2014/main" id="{1659F2E6-95A3-4743-9153-6484B445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086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factor-37">
            <a:extLst xmlns:a="http://schemas.openxmlformats.org/drawingml/2006/main">
              <a:ext uri="{FF2B5EF4-FFF2-40B4-BE49-F238E27FC236}">
                <a16:creationId xmlns:a16="http://schemas.microsoft.com/office/drawing/2014/main" id="{13360E02-7F6C-4B6C-B488-E9E3075C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86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factor-38">
            <a:extLst xmlns:a="http://schemas.openxmlformats.org/drawingml/2006/main">
              <a:ext uri="{FF2B5EF4-FFF2-40B4-BE49-F238E27FC236}">
                <a16:creationId xmlns:a16="http://schemas.microsoft.com/office/drawing/2014/main" id="{99E84384-A804-4FCD-A725-212DDEA8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086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factor-39">
            <a:extLst xmlns:a="http://schemas.openxmlformats.org/drawingml/2006/main">
              <a:ext uri="{FF2B5EF4-FFF2-40B4-BE49-F238E27FC236}">
                <a16:creationId xmlns:a16="http://schemas.microsoft.com/office/drawing/2014/main" id="{5675CECE-CC0D-4ACC-BD8C-72C1366B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86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factor-40">
            <a:extLst xmlns:a="http://schemas.openxmlformats.org/drawingml/2006/main">
              <a:ext uri="{FF2B5EF4-FFF2-40B4-BE49-F238E27FC236}">
                <a16:creationId xmlns:a16="http://schemas.microsoft.com/office/drawing/2014/main" id="{899836D8-A172-4C60-B63C-ABAEB124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86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factor-41">
            <a:extLst xmlns:a="http://schemas.openxmlformats.org/drawingml/2006/main">
              <a:ext uri="{FF2B5EF4-FFF2-40B4-BE49-F238E27FC236}">
                <a16:creationId xmlns:a16="http://schemas.microsoft.com/office/drawing/2014/main" id="{015DFC77-3617-44A4-BDFC-7E7FA30B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factor-42">
            <a:extLst xmlns:a="http://schemas.openxmlformats.org/drawingml/2006/main">
              <a:ext uri="{FF2B5EF4-FFF2-40B4-BE49-F238E27FC236}">
                <a16:creationId xmlns:a16="http://schemas.microsoft.com/office/drawing/2014/main" id="{1F1B0EDE-3B6C-434A-AF63-1261B6E2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495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factor-43">
            <a:extLst xmlns:a="http://schemas.openxmlformats.org/drawingml/2006/main">
              <a:ext uri="{FF2B5EF4-FFF2-40B4-BE49-F238E27FC236}">
                <a16:creationId xmlns:a16="http://schemas.microsoft.com/office/drawing/2014/main" id="{6B0B3621-9745-4F13-A861-8AE2C613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95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factor-44">
            <a:extLst xmlns:a="http://schemas.openxmlformats.org/drawingml/2006/main">
              <a:ext uri="{FF2B5EF4-FFF2-40B4-BE49-F238E27FC236}">
                <a16:creationId xmlns:a16="http://schemas.microsoft.com/office/drawing/2014/main" id="{B1212854-1504-4DBC-9F54-662E79F7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495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factor-45">
            <a:extLst xmlns:a="http://schemas.openxmlformats.org/drawingml/2006/main">
              <a:ext uri="{FF2B5EF4-FFF2-40B4-BE49-F238E27FC236}">
                <a16:creationId xmlns:a16="http://schemas.microsoft.com/office/drawing/2014/main" id="{498BF999-5637-4189-A86A-D6D1C17D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factor-46">
            <a:extLst xmlns:a="http://schemas.openxmlformats.org/drawingml/2006/main">
              <a:ext uri="{FF2B5EF4-FFF2-40B4-BE49-F238E27FC236}">
                <a16:creationId xmlns:a16="http://schemas.microsoft.com/office/drawing/2014/main" id="{F63BB089-D6BE-4DC1-A9D3-EB8EDC87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495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factor-47">
            <a:extLst xmlns:a="http://schemas.openxmlformats.org/drawingml/2006/main">
              <a:ext uri="{FF2B5EF4-FFF2-40B4-BE49-F238E27FC236}">
                <a16:creationId xmlns:a16="http://schemas.microsoft.com/office/drawing/2014/main" id="{8749CE12-F8AD-4F2C-8DA8-6C9DECAE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95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factor-48">
            <a:extLst xmlns:a="http://schemas.openxmlformats.org/drawingml/2006/main">
              <a:ext uri="{FF2B5EF4-FFF2-40B4-BE49-F238E27FC236}">
                <a16:creationId xmlns:a16="http://schemas.microsoft.com/office/drawing/2014/main" id="{4666DEF3-A1F8-4A83-802E-7790C28E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495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factor-49">
            <a:extLst xmlns:a="http://schemas.openxmlformats.org/drawingml/2006/main">
              <a:ext uri="{FF2B5EF4-FFF2-40B4-BE49-F238E27FC236}">
                <a16:creationId xmlns:a16="http://schemas.microsoft.com/office/drawing/2014/main" id="{508CAB3E-485C-4D18-BF5C-1E6A302F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495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factor-50">
            <a:extLst xmlns:a="http://schemas.openxmlformats.org/drawingml/2006/main">
              <a:ext uri="{FF2B5EF4-FFF2-40B4-BE49-F238E27FC236}">
                <a16:creationId xmlns:a16="http://schemas.microsoft.com/office/drawing/2014/main" id="{8C5F541C-4124-4B63-89F0-9AFA37A1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958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factor-51">
            <a:extLst xmlns:a="http://schemas.openxmlformats.org/drawingml/2006/main">
              <a:ext uri="{FF2B5EF4-FFF2-40B4-BE49-F238E27FC236}">
                <a16:creationId xmlns:a16="http://schemas.microsoft.com/office/drawing/2014/main" id="{A7F19EA9-CCAB-41DE-A52B-80A9004A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factor-52">
            <a:extLst xmlns:a="http://schemas.openxmlformats.org/drawingml/2006/main">
              <a:ext uri="{FF2B5EF4-FFF2-40B4-BE49-F238E27FC236}">
                <a16:creationId xmlns:a16="http://schemas.microsoft.com/office/drawing/2014/main" id="{1BA83BF0-DC94-406A-985D-9F363764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9053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factor-53">
            <a:extLst xmlns:a="http://schemas.openxmlformats.org/drawingml/2006/main">
              <a:ext uri="{FF2B5EF4-FFF2-40B4-BE49-F238E27FC236}">
                <a16:creationId xmlns:a16="http://schemas.microsoft.com/office/drawing/2014/main" id="{E800C865-4591-4033-B010-D52AA747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053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factor-54">
            <a:extLst xmlns:a="http://schemas.openxmlformats.org/drawingml/2006/main">
              <a:ext uri="{FF2B5EF4-FFF2-40B4-BE49-F238E27FC236}">
                <a16:creationId xmlns:a16="http://schemas.microsoft.com/office/drawing/2014/main" id="{201D8B06-C2EC-47CB-8DF9-CEDFD0EC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9053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factor-55">
            <a:extLst xmlns:a="http://schemas.openxmlformats.org/drawingml/2006/main">
              <a:ext uri="{FF2B5EF4-FFF2-40B4-BE49-F238E27FC236}">
                <a16:creationId xmlns:a16="http://schemas.microsoft.com/office/drawing/2014/main" id="{7CB4F61B-4FA4-4BEE-9CB8-41D20E0F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053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factor-56">
            <a:extLst xmlns:a="http://schemas.openxmlformats.org/drawingml/2006/main">
              <a:ext uri="{FF2B5EF4-FFF2-40B4-BE49-F238E27FC236}">
                <a16:creationId xmlns:a16="http://schemas.microsoft.com/office/drawing/2014/main" id="{1E36594E-B8FC-45E1-A829-EAB22557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9053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factor-57">
            <a:extLst xmlns:a="http://schemas.openxmlformats.org/drawingml/2006/main">
              <a:ext uri="{FF2B5EF4-FFF2-40B4-BE49-F238E27FC236}">
                <a16:creationId xmlns:a16="http://schemas.microsoft.com/office/drawing/2014/main" id="{0D1A3FDC-B248-48FA-94FD-54515912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053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factor-58">
            <a:extLst xmlns:a="http://schemas.openxmlformats.org/drawingml/2006/main">
              <a:ext uri="{FF2B5EF4-FFF2-40B4-BE49-F238E27FC236}">
                <a16:creationId xmlns:a16="http://schemas.microsoft.com/office/drawing/2014/main" id="{C10FAFAE-44DF-4349-9457-45BBA9B0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9053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known-pill-bg">
            <a:extLst xmlns:a="http://schemas.openxmlformats.org/drawingml/2006/main">
              <a:ext uri="{FF2B5EF4-FFF2-40B4-BE49-F238E27FC236}">
                <a16:creationId xmlns:a16="http://schemas.microsoft.com/office/drawing/2014/main" id="{3CED5E4F-93D4-41EA-8ACE-09A1DE3A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known-pill-text">
            <a:extLst xmlns:a="http://schemas.openxmlformats.org/drawingml/2006/main">
              <a:ext uri="{FF2B5EF4-FFF2-40B4-BE49-F238E27FC236}">
                <a16:creationId xmlns:a16="http://schemas.microsoft.com/office/drawing/2014/main" id="{1FAD1863-0EEC-4C7F-9074-D1DE8E77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21 можно оценить</a:t>
            </a:r>
          </a:p>
        </p:txBody>
      </p:sp>
      <p:sp>
        <p:nvSpPr>
          <p:cNvPr id="67" name="unknown-pill-bg">
            <a:extLst xmlns:a="http://schemas.openxmlformats.org/drawingml/2006/main">
              <a:ext uri="{FF2B5EF4-FFF2-40B4-BE49-F238E27FC236}">
                <a16:creationId xmlns:a16="http://schemas.microsoft.com/office/drawing/2014/main" id="{18D3EDB1-CC07-4FF2-9964-8E9A3062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43550"/>
            <a:ext cx="1962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D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unknown-pill-text">
            <a:extLst xmlns:a="http://schemas.openxmlformats.org/drawingml/2006/main">
              <a:ext uri="{FF2B5EF4-FFF2-40B4-BE49-F238E27FC236}">
                <a16:creationId xmlns:a16="http://schemas.microsoft.com/office/drawing/2014/main" id="{F7D9EEC2-3764-4C67-8494-B2538C59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43550"/>
            <a:ext cx="1733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37 пока неизвестны</a:t>
            </a:r>
          </a:p>
        </p:txBody>
      </p:sp>
      <p:sp>
        <p:nvSpPr>
          <p:cNvPr id="69" name="decision-panel">
            <a:extLst xmlns:a="http://schemas.openxmlformats.org/drawingml/2006/main">
              <a:ext uri="{FF2B5EF4-FFF2-40B4-BE49-F238E27FC236}">
                <a16:creationId xmlns:a16="http://schemas.microsoft.com/office/drawing/2014/main" id="{A8030198-E383-4272-A36F-1170D323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09750"/>
            <a:ext cx="588645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70" name="no-score-label">
            <a:extLst xmlns:a="http://schemas.openxmlformats.org/drawingml/2006/main">
              <a:ext uri="{FF2B5EF4-FFF2-40B4-BE49-F238E27FC236}">
                <a16:creationId xmlns:a16="http://schemas.microsoft.com/office/drawing/2014/main" id="{04CDBCF0-A499-4067-B746-21C6FB06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1455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4B4B"/>
                </a:solidFill>
                <a:latin typeface="Manrope"/>
                <a:ea typeface="Manrope"/>
                <a:cs typeface="Manrope"/>
              </a:defRPr>
            </a:pPr>
            <a:r>
              <a:rPr sz="1125" b="1">
                <a:solidFill>
                  <a:srgbClr val="D94B4B"/>
                </a:solidFill>
                <a:latin typeface="Manrope"/>
                <a:ea typeface="Manrope"/>
                <a:cs typeface="Manrope"/>
              </a:rPr>
              <a:t>ОБЩИЙ БАЛЛ НЕ СЧИТАЕМ</a:t>
            </a:r>
          </a:p>
        </p:txBody>
      </p:sp>
      <p:sp>
        <p:nvSpPr>
          <p:cNvPr id="71" name="answers-title">
            <a:extLst xmlns:a="http://schemas.openxmlformats.org/drawingml/2006/main">
              <a:ext uri="{FF2B5EF4-FFF2-40B4-BE49-F238E27FC236}">
                <a16:creationId xmlns:a16="http://schemas.microsoft.com/office/drawing/2014/main" id="{E06408E2-F558-481D-9DB2-606DFDEA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52700"/>
            <a:ext cx="495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Сначала четыре ответа</a:t>
            </a:r>
          </a:p>
        </p:txBody>
      </p:sp>
      <p:sp>
        <p:nvSpPr>
          <p:cNvPr id="72" name="unknown-0-num">
            <a:extLst xmlns:a="http://schemas.openxmlformats.org/drawingml/2006/main">
              <a:ext uri="{FF2B5EF4-FFF2-40B4-BE49-F238E27FC236}">
                <a16:creationId xmlns:a16="http://schemas.microsoft.com/office/drawing/2014/main" id="{C8C28D6C-92CC-4D5F-A539-6A00DBA3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194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3" name="unknown-0-title">
            <a:extLst xmlns:a="http://schemas.openxmlformats.org/drawingml/2006/main">
              <a:ext uri="{FF2B5EF4-FFF2-40B4-BE49-F238E27FC236}">
                <a16:creationId xmlns:a16="http://schemas.microsoft.com/office/drawing/2014/main" id="{4D9EED95-86F4-4824-A26A-1BC98F43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004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Прибыль с заказа</a:t>
            </a:r>
          </a:p>
        </p:txBody>
      </p:sp>
      <p:sp>
        <p:nvSpPr>
          <p:cNvPr id="74" name="unknown-0-note">
            <a:extLst xmlns:a="http://schemas.openxmlformats.org/drawingml/2006/main">
              <a:ext uri="{FF2B5EF4-FFF2-40B4-BE49-F238E27FC236}">
                <a16:creationId xmlns:a16="http://schemas.microsoft.com/office/drawing/2014/main" id="{CCC9241F-E5D2-44A4-B95B-F816F656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099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Сколько можно платить за привлечение</a:t>
            </a:r>
          </a:p>
        </p:txBody>
      </p:sp>
      <p:sp>
        <p:nvSpPr>
          <p:cNvPr id="75" name="unknown-1-num">
            <a:extLst xmlns:a="http://schemas.openxmlformats.org/drawingml/2006/main">
              <a:ext uri="{FF2B5EF4-FFF2-40B4-BE49-F238E27FC236}">
                <a16:creationId xmlns:a16="http://schemas.microsoft.com/office/drawing/2014/main" id="{1B2E1A57-6ABE-48EF-9C02-A4E3082C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100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76" name="unknown-1-title">
            <a:extLst xmlns:a="http://schemas.openxmlformats.org/drawingml/2006/main">
              <a:ext uri="{FF2B5EF4-FFF2-40B4-BE49-F238E27FC236}">
                <a16:creationId xmlns:a16="http://schemas.microsoft.com/office/drawing/2014/main" id="{945A8A7D-3CEC-4CD0-8E46-D464921B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909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Свободная мощность</a:t>
            </a:r>
          </a:p>
        </p:txBody>
      </p:sp>
      <p:sp>
        <p:nvSpPr>
          <p:cNvPr id="77" name="unknown-1-note">
            <a:extLst xmlns:a="http://schemas.openxmlformats.org/drawingml/2006/main">
              <a:ext uri="{FF2B5EF4-FFF2-40B4-BE49-F238E27FC236}">
                <a16:creationId xmlns:a16="http://schemas.microsoft.com/office/drawing/2014/main" id="{957703E3-6BB0-441B-BF97-D25FFBE5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004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Сколько заказов выдержат точки и цех</a:t>
            </a:r>
          </a:p>
        </p:txBody>
      </p:sp>
      <p:sp>
        <p:nvSpPr>
          <p:cNvPr id="78" name="unknown-2-num">
            <a:extLst xmlns:a="http://schemas.openxmlformats.org/drawingml/2006/main">
              <a:ext uri="{FF2B5EF4-FFF2-40B4-BE49-F238E27FC236}">
                <a16:creationId xmlns:a16="http://schemas.microsoft.com/office/drawing/2014/main" id="{25B92355-B228-4604-8C69-AA4EAC83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0055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79" name="unknown-2-title">
            <a:extLst xmlns:a="http://schemas.openxmlformats.org/drawingml/2006/main">
              <a:ext uri="{FF2B5EF4-FFF2-40B4-BE49-F238E27FC236}">
                <a16:creationId xmlns:a16="http://schemas.microsoft.com/office/drawing/2014/main" id="{BEC71799-575C-4AA0-BAE0-A3B09A00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815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Заказ после обращения</a:t>
            </a:r>
          </a:p>
        </p:txBody>
      </p:sp>
      <p:sp>
        <p:nvSpPr>
          <p:cNvPr id="80" name="unknown-2-note">
            <a:extLst xmlns:a="http://schemas.openxmlformats.org/drawingml/2006/main">
              <a:ext uri="{FF2B5EF4-FFF2-40B4-BE49-F238E27FC236}">
                <a16:creationId xmlns:a16="http://schemas.microsoft.com/office/drawing/2014/main" id="{2DCF1EA1-DBF8-44E3-B922-69C6CF17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9102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Какая доля обращений становится деньгами</a:t>
            </a:r>
          </a:p>
        </p:txBody>
      </p:sp>
      <p:sp>
        <p:nvSpPr>
          <p:cNvPr id="81" name="unknown-3-num">
            <a:extLst xmlns:a="http://schemas.openxmlformats.org/drawingml/2006/main">
              <a:ext uri="{FF2B5EF4-FFF2-40B4-BE49-F238E27FC236}">
                <a16:creationId xmlns:a16="http://schemas.microsoft.com/office/drawing/2014/main" id="{ADE7DE23-08D2-4C04-8EFF-1C86631D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91100"/>
            <a:ext cx="400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82" name="unknown-3-title">
            <a:extLst xmlns:a="http://schemas.openxmlformats.org/drawingml/2006/main">
              <a:ext uri="{FF2B5EF4-FFF2-40B4-BE49-F238E27FC236}">
                <a16:creationId xmlns:a16="http://schemas.microsoft.com/office/drawing/2014/main" id="{0884CDFF-79FF-4C15-8DA5-950772F9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720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425" b="1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Претензии и качество</a:t>
            </a:r>
          </a:p>
        </p:txBody>
      </p:sp>
      <p:sp>
        <p:nvSpPr>
          <p:cNvPr id="83" name="unknown-3-note">
            <a:extLst xmlns:a="http://schemas.openxmlformats.org/drawingml/2006/main">
              <a:ext uri="{FF2B5EF4-FFF2-40B4-BE49-F238E27FC236}">
                <a16:creationId xmlns:a16="http://schemas.microsoft.com/office/drawing/2014/main" id="{F9D3E9E5-9E05-4A47-B5FE-77CFB5EB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815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Не усилит ли реклама слабое место</a:t>
            </a:r>
          </a:p>
        </p:txBody>
      </p:sp>
      <p:sp>
        <p:nvSpPr>
          <p:cNvPr id="8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85A67A4-619B-4158-A943-20330CAA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19C145F-B0AE-49AC-85C7-2E99F09B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7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Внешний скрининг UNISEC · 21 из 58 факторов доступны по открытым данным</a:t>
            </a:r>
          </a:p>
        </p:txBody>
      </p:sp>
      <p:sp>
        <p:nvSpPr>
          <p:cNvPr id="86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365BFD7-57CD-44D2-A2D8-F15245FE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6312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A7745D4-B183-49D1-BCCC-860474AF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9FC43234-0666-41ED-B972-36381793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666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FD75E7BB-14CA-4C83-80F0-82E7BBE6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РЫНОК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B6BC1D-5BC8-4056-A404-5CF5B5CD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92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Рынок уже сформирован: выигрывать нужно точку выбора рядом с клиентом.</a:t>
            </a:r>
          </a:p>
        </p:txBody>
      </p:sp>
      <p:sp>
        <p:nvSpPr>
          <p:cNvPr id="5" name="population-value">
            <a:extLst xmlns:a="http://schemas.openxmlformats.org/drawingml/2006/main">
              <a:ext uri="{FF2B5EF4-FFF2-40B4-BE49-F238E27FC236}">
                <a16:creationId xmlns:a16="http://schemas.microsoft.com/office/drawing/2014/main" id="{FD4DC60E-1362-4FA2-AAFA-047A7898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48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1,637 млн</a:t>
            </a:r>
          </a:p>
        </p:txBody>
      </p:sp>
      <p:sp>
        <p:nvSpPr>
          <p:cNvPr id="6" name="population-label">
            <a:extLst xmlns:a="http://schemas.openxmlformats.org/drawingml/2006/main">
              <a:ext uri="{FF2B5EF4-FFF2-40B4-BE49-F238E27FC236}">
                <a16:creationId xmlns:a16="http://schemas.microsoft.com/office/drawing/2014/main" id="{EBE27EB8-B590-49A3-BBBF-6BBD9D5C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жителей Новосибирска</a:t>
            </a:r>
          </a:p>
        </p:txBody>
      </p:sp>
      <p:sp>
        <p:nvSpPr>
          <p:cNvPr id="7" name="population-note">
            <a:extLst xmlns:a="http://schemas.openxmlformats.org/drawingml/2006/main">
              <a:ext uri="{FF2B5EF4-FFF2-40B4-BE49-F238E27FC236}">
                <a16:creationId xmlns:a16="http://schemas.microsoft.com/office/drawing/2014/main" id="{84F57C45-7BD1-4AD1-A5C3-470D8A4E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3619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350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Локальная услуга с большим городским рынком. Население не равно числу клиентов, но даёт пространство для проверки предложения.</a:t>
            </a:r>
          </a:p>
        </p:txBody>
      </p:sp>
      <p:sp>
        <p:nvSpPr>
          <p:cNvPr id="8" name="market-divider">
            <a:extLst xmlns:a="http://schemas.openxmlformats.org/drawingml/2006/main">
              <a:ext uri="{FF2B5EF4-FFF2-40B4-BE49-F238E27FC236}">
                <a16:creationId xmlns:a16="http://schemas.microsoft.com/office/drawing/2014/main" id="{FF9C08B5-6A13-459D-A212-A9ED2494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43100"/>
            <a:ext cx="9525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profile-label">
            <a:extLst xmlns:a="http://schemas.openxmlformats.org/drawingml/2006/main">
              <a:ext uri="{FF2B5EF4-FFF2-40B4-BE49-F238E27FC236}">
                <a16:creationId xmlns:a16="http://schemas.microsoft.com/office/drawing/2014/main" id="{25D49F65-8622-43F7-AD7E-2AC6BB04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002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КАК ПОКУПАЮТ</a:t>
            </a:r>
          </a:p>
        </p:txBody>
      </p:sp>
      <p:sp>
        <p:nvSpPr>
          <p:cNvPr id="10" name="trait-0-marker">
            <a:extLst xmlns:a="http://schemas.openxmlformats.org/drawingml/2006/main">
              <a:ext uri="{FF2B5EF4-FFF2-40B4-BE49-F238E27FC236}">
                <a16:creationId xmlns:a16="http://schemas.microsoft.com/office/drawing/2014/main" id="{0A22E30C-185D-40E8-9866-5E62A94A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57450"/>
            <a:ext cx="1143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9E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trait-0-label">
            <a:extLst xmlns:a="http://schemas.openxmlformats.org/drawingml/2006/main">
              <a:ext uri="{FF2B5EF4-FFF2-40B4-BE49-F238E27FC236}">
                <a16:creationId xmlns:a16="http://schemas.microsoft.com/office/drawing/2014/main" id="{C8E5AC41-429C-4E68-8915-3A9F3015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574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СПРОС УЖЕ ЕСТЬ</a:t>
            </a:r>
          </a:p>
        </p:txBody>
      </p:sp>
      <p:sp>
        <p:nvSpPr>
          <p:cNvPr id="12" name="trait-0-note">
            <a:extLst xmlns:a="http://schemas.openxmlformats.org/drawingml/2006/main">
              <a:ext uri="{FF2B5EF4-FFF2-40B4-BE49-F238E27FC236}">
                <a16:creationId xmlns:a16="http://schemas.microsoft.com/office/drawing/2014/main" id="{5E45B1DB-59F7-40F3-9886-6DEEA924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Клиент выбирает между химчистками</a:t>
            </a:r>
          </a:p>
        </p:txBody>
      </p:sp>
      <p:sp>
        <p:nvSpPr>
          <p:cNvPr id="13" name="trait-1-marker">
            <a:extLst xmlns:a="http://schemas.openxmlformats.org/drawingml/2006/main">
              <a:ext uri="{FF2B5EF4-FFF2-40B4-BE49-F238E27FC236}">
                <a16:creationId xmlns:a16="http://schemas.microsoft.com/office/drawing/2014/main" id="{67CE939A-1DBD-46D3-81A9-C004CF14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143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trait-1-label">
            <a:extLst xmlns:a="http://schemas.openxmlformats.org/drawingml/2006/main">
              <a:ext uri="{FF2B5EF4-FFF2-40B4-BE49-F238E27FC236}">
                <a16:creationId xmlns:a16="http://schemas.microsoft.com/office/drawing/2014/main" id="{35D7FD98-2D85-40EC-A86C-A4A0E4F0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3337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СЕЗОННОСТЬ</a:t>
            </a:r>
          </a:p>
        </p:txBody>
      </p:sp>
      <p:sp>
        <p:nvSpPr>
          <p:cNvPr id="15" name="trait-1-note">
            <a:extLst xmlns:a="http://schemas.openxmlformats.org/drawingml/2006/main">
              <a:ext uri="{FF2B5EF4-FFF2-40B4-BE49-F238E27FC236}">
                <a16:creationId xmlns:a16="http://schemas.microsoft.com/office/drawing/2014/main" id="{E71304EC-BC6E-473F-9357-FB8FC2EE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004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Пик вокруг окончания сезона и холодов</a:t>
            </a:r>
          </a:p>
        </p:txBody>
      </p:sp>
      <p:sp>
        <p:nvSpPr>
          <p:cNvPr id="16" name="trait-2-marker">
            <a:extLst xmlns:a="http://schemas.openxmlformats.org/drawingml/2006/main">
              <a:ext uri="{FF2B5EF4-FFF2-40B4-BE49-F238E27FC236}">
                <a16:creationId xmlns:a16="http://schemas.microsoft.com/office/drawing/2014/main" id="{7FC66FDD-C521-41D9-8795-8ADC5813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10050"/>
            <a:ext cx="1143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trait-2-label">
            <a:extLst xmlns:a="http://schemas.openxmlformats.org/drawingml/2006/main">
              <a:ext uri="{FF2B5EF4-FFF2-40B4-BE49-F238E27FC236}">
                <a16:creationId xmlns:a16="http://schemas.microsoft.com/office/drawing/2014/main" id="{C36E92D2-A43A-471A-A52B-D109C9D2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2100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ГОРОДСКОЙ ВЫБОР</a:t>
            </a:r>
          </a:p>
        </p:txBody>
      </p:sp>
      <p:sp>
        <p:nvSpPr>
          <p:cNvPr id="18" name="trait-2-note">
            <a:extLst xmlns:a="http://schemas.openxmlformats.org/drawingml/2006/main">
              <a:ext uri="{FF2B5EF4-FFF2-40B4-BE49-F238E27FC236}">
                <a16:creationId xmlns:a16="http://schemas.microsoft.com/office/drawing/2014/main" id="{AA2ED5FF-5892-4BC4-8C42-4A7BD799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767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Карты, район, пункт и курьер решают</a:t>
            </a:r>
          </a:p>
        </p:txBody>
      </p:sp>
      <p:sp>
        <p:nvSpPr>
          <p:cNvPr id="19" name="price-panel">
            <a:extLst xmlns:a="http://schemas.openxmlformats.org/drawingml/2006/main">
              <a:ext uri="{FF2B5EF4-FFF2-40B4-BE49-F238E27FC236}">
                <a16:creationId xmlns:a16="http://schemas.microsoft.com/office/drawing/2014/main" id="{173C5D72-8E65-4CBE-924E-4445C680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43100"/>
            <a:ext cx="3009900" cy="35433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7F5FA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20" name="price-label">
            <a:extLst xmlns:a="http://schemas.openxmlformats.org/drawingml/2006/main">
              <a:ext uri="{FF2B5EF4-FFF2-40B4-BE49-F238E27FC236}">
                <a16:creationId xmlns:a16="http://schemas.microsoft.com/office/drawing/2014/main" id="{E243E1A8-7E59-4929-A41D-F3C024C6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ЦЕНА ПУХОВИКА</a:t>
            </a:r>
          </a:p>
        </p:txBody>
      </p:sp>
      <p:sp>
        <p:nvSpPr>
          <p:cNvPr id="21" name="price-claim">
            <a:extLst xmlns:a="http://schemas.openxmlformats.org/drawingml/2006/main">
              <a:ext uri="{FF2B5EF4-FFF2-40B4-BE49-F238E27FC236}">
                <a16:creationId xmlns:a16="http://schemas.microsoft.com/office/drawing/2014/main" id="{607C9D34-9C7B-4A1B-8EDD-FEE2B578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336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UNISEC находится</a:t>
            </a:r>
          </a:p>
          <a:p xmlns:a="http://schemas.openxmlformats.org/drawingml/2006/main">
            <a:pPr algn="l">
              <a:defRPr sz="21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1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в среднем поле</a:t>
            </a:r>
          </a:p>
        </p:txBody>
      </p:sp>
      <p:sp>
        <p:nvSpPr>
          <p:cNvPr id="22" name="price-0-label">
            <a:extLst xmlns:a="http://schemas.openxmlformats.org/drawingml/2006/main">
              <a:ext uri="{FF2B5EF4-FFF2-40B4-BE49-F238E27FC236}">
                <a16:creationId xmlns:a16="http://schemas.microsoft.com/office/drawing/2014/main" id="{96F1E73D-09F0-49A2-BAF0-A19D1AD1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623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UNISEC · до 90 см</a:t>
            </a:r>
          </a:p>
        </p:txBody>
      </p:sp>
      <p:sp>
        <p:nvSpPr>
          <p:cNvPr id="23" name="price-0-bar">
            <a:extLst xmlns:a="http://schemas.openxmlformats.org/drawingml/2006/main">
              <a:ext uri="{FF2B5EF4-FFF2-40B4-BE49-F238E27FC236}">
                <a16:creationId xmlns:a16="http://schemas.microsoft.com/office/drawing/2014/main" id="{7E664DE8-29A6-42FC-A17F-448D1A8E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0000"/>
            <a:ext cx="182562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price-0-value">
            <a:extLst xmlns:a="http://schemas.openxmlformats.org/drawingml/2006/main">
              <a:ext uri="{FF2B5EF4-FFF2-40B4-BE49-F238E27FC236}">
                <a16:creationId xmlns:a16="http://schemas.microsoft.com/office/drawing/2014/main" id="{A20F1060-B4F8-4744-9CAF-1BD612A8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433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2 300 ₽</a:t>
            </a:r>
          </a:p>
        </p:txBody>
      </p:sp>
      <p:sp>
        <p:nvSpPr>
          <p:cNvPr id="25" name="price-1-label">
            <a:extLst xmlns:a="http://schemas.openxmlformats.org/drawingml/2006/main">
              <a:ext uri="{FF2B5EF4-FFF2-40B4-BE49-F238E27FC236}">
                <a16:creationId xmlns:a16="http://schemas.microsoft.com/office/drawing/2014/main" id="{BC0BC7EA-05A6-4B0F-953B-AA3E97F8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1480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Rizzo · короткий</a:t>
            </a:r>
          </a:p>
        </p:txBody>
      </p:sp>
      <p:sp>
        <p:nvSpPr>
          <p:cNvPr id="26" name="price-1-bar">
            <a:extLst xmlns:a="http://schemas.openxmlformats.org/drawingml/2006/main">
              <a:ext uri="{FF2B5EF4-FFF2-40B4-BE49-F238E27FC236}">
                <a16:creationId xmlns:a16="http://schemas.microsoft.com/office/drawing/2014/main" id="{5F758295-3724-4205-A916-EE7E8895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62450"/>
            <a:ext cx="1905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ice-1-value">
            <a:extLst xmlns:a="http://schemas.openxmlformats.org/drawingml/2006/main">
              <a:ext uri="{FF2B5EF4-FFF2-40B4-BE49-F238E27FC236}">
                <a16:creationId xmlns:a16="http://schemas.microsoft.com/office/drawing/2014/main" id="{A5D1A98F-0B5E-4001-9AA3-12C6D083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957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2 400 ₽</a:t>
            </a:r>
          </a:p>
        </p:txBody>
      </p:sp>
      <p:sp>
        <p:nvSpPr>
          <p:cNvPr id="28" name="price-2-label">
            <a:extLst xmlns:a="http://schemas.openxmlformats.org/drawingml/2006/main">
              <a:ext uri="{FF2B5EF4-FFF2-40B4-BE49-F238E27FC236}">
                <a16:creationId xmlns:a16="http://schemas.microsoft.com/office/drawing/2014/main" id="{606C9D5B-A089-4037-BA41-3AB262CB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67250"/>
            <a:ext cx="166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Rizzo · удлинённый</a:t>
            </a:r>
          </a:p>
        </p:txBody>
      </p:sp>
      <p:sp>
        <p:nvSpPr>
          <p:cNvPr id="29" name="price-2-bar">
            <a:extLst xmlns:a="http://schemas.openxmlformats.org/drawingml/2006/main">
              <a:ext uri="{FF2B5EF4-FFF2-40B4-BE49-F238E27FC236}">
                <a16:creationId xmlns:a16="http://schemas.microsoft.com/office/drawing/2014/main" id="{365C2F28-338E-4248-AF32-27C4901C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14900"/>
            <a:ext cx="198437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2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price-2-value">
            <a:extLst xmlns:a="http://schemas.openxmlformats.org/drawingml/2006/main">
              <a:ext uri="{FF2B5EF4-FFF2-40B4-BE49-F238E27FC236}">
                <a16:creationId xmlns:a16="http://schemas.microsoft.com/office/drawing/2014/main" id="{FA8EB088-B801-4DA4-8F69-291A0DDA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482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2 500 ₽</a:t>
            </a:r>
          </a:p>
        </p:txBody>
      </p:sp>
      <p:sp>
        <p:nvSpPr>
          <p:cNvPr id="31" name="price-conclusion-bg">
            <a:extLst xmlns:a="http://schemas.openxmlformats.org/drawingml/2006/main">
              <a:ext uri="{FF2B5EF4-FFF2-40B4-BE49-F238E27FC236}">
                <a16:creationId xmlns:a16="http://schemas.microsoft.com/office/drawing/2014/main" id="{C473BC08-B861-401C-836A-C5CC173D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2920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price-conclusion-text">
            <a:extLst xmlns:a="http://schemas.openxmlformats.org/drawingml/2006/main">
              <a:ext uri="{FF2B5EF4-FFF2-40B4-BE49-F238E27FC236}">
                <a16:creationId xmlns:a16="http://schemas.microsoft.com/office/drawing/2014/main" id="{41D97ED1-D629-4259-9106-2A025A6F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2920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Не ценовая война</a:t>
            </a:r>
          </a:p>
        </p:txBody>
      </p:sp>
      <p:sp>
        <p:nvSpPr>
          <p:cNvPr id="3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1A7F53D-2296-4461-8291-F4F777A2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E47E8D4-B648-42F5-B4FB-EB47A21B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7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Источники: unisec-nsk.ru · rizzonsk.ru · официальный мониторинг Новосибирска за 2024 год</a:t>
            </a:r>
          </a:p>
        </p:txBody>
      </p:sp>
      <p:sp>
        <p:nvSpPr>
          <p:cNvPr id="3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39296C82-0B72-4424-B05D-68E48A58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864828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C104DD6-CC6D-4BAC-9402-BAED05FA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A"/>
          </a:solidFill>
          <a:ln xmlns:a="http://schemas.openxmlformats.org/drawingml/2006/main" w="0">
            <a:solidFill>
              <a:srgbClr val="F7F5FA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4CA9770A-8E95-4B45-B8DE-95D60718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666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8C13F9B0-236A-4C30-8511-1B402006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РАЗРЫВ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8365145-3B8D-442D-830E-00B4FEB9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31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Сайт продаёт длинный прайс. Клиент покупает снижение риска.</a:t>
            </a:r>
          </a:p>
        </p:txBody>
      </p:sp>
      <p:sp>
        <p:nvSpPr>
          <p:cNvPr id="5" name="catalog-side">
            <a:extLst xmlns:a="http://schemas.openxmlformats.org/drawingml/2006/main">
              <a:ext uri="{FF2B5EF4-FFF2-40B4-BE49-F238E27FC236}">
                <a16:creationId xmlns:a16="http://schemas.microsoft.com/office/drawing/2014/main" id="{F8196BD8-0C23-49D5-98F2-F1944AAB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8577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FED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atalog-label">
            <a:extLst xmlns:a="http://schemas.openxmlformats.org/drawingml/2006/main">
              <a:ext uri="{FF2B5EF4-FFF2-40B4-BE49-F238E27FC236}">
                <a16:creationId xmlns:a16="http://schemas.microsoft.com/office/drawing/2014/main" id="{FF3CC621-B66E-4C2A-9AD0-917C8CAA1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381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САЙТ ГОВОРИТ</a:t>
            </a:r>
          </a:p>
        </p:txBody>
      </p:sp>
      <p:sp>
        <p:nvSpPr>
          <p:cNvPr id="7" name="catalog-list">
            <a:extLst xmlns:a="http://schemas.openxmlformats.org/drawingml/2006/main">
              <a:ext uri="{FF2B5EF4-FFF2-40B4-BE49-F238E27FC236}">
                <a16:creationId xmlns:a16="http://schemas.microsoft.com/office/drawing/2014/main" id="{6A7C96A9-5AB5-45CB-B169-A9A357C7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37909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Испания</a:t>
            </a:r>
          </a:p>
          <a:p xmlns:a="http://schemas.openxmlformats.org/drawingml/2006/main">
            <a:pPr algn="l">
              <a:defRPr sz="25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оборудование</a:t>
            </a:r>
          </a:p>
          <a:p xmlns:a="http://schemas.openxmlformats.org/drawingml/2006/main">
            <a:pPr algn="l">
              <a:defRPr sz="25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ГОСТ</a:t>
            </a:r>
          </a:p>
          <a:p xmlns:a="http://schemas.openxmlformats.org/drawingml/2006/main">
            <a:pPr algn="l">
              <a:defRPr sz="25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скидки</a:t>
            </a:r>
          </a:p>
          <a:p xmlns:a="http://schemas.openxmlformats.org/drawingml/2006/main">
            <a:pPr algn="l">
              <a:defRPr sz="25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сотни строк прайса</a:t>
            </a:r>
          </a:p>
        </p:txBody>
      </p:sp>
      <p:sp>
        <p:nvSpPr>
          <p:cNvPr id="8" name="catalog-note">
            <a:extLst xmlns:a="http://schemas.openxmlformats.org/drawingml/2006/main">
              <a:ext uri="{FF2B5EF4-FFF2-40B4-BE49-F238E27FC236}">
                <a16:creationId xmlns:a16="http://schemas.microsoft.com/office/drawing/2014/main" id="{5F3C6E7C-763D-45A3-9EAC-008ACA63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29200"/>
            <a:ext cx="3752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Клиенту приходится самому переводить каталог в решение своей задачи.</a:t>
            </a:r>
          </a:p>
        </p:txBody>
      </p:sp>
      <p:sp>
        <p:nvSpPr>
          <p:cNvPr id="9" name="customer-side">
            <a:extLst xmlns:a="http://schemas.openxmlformats.org/drawingml/2006/main">
              <a:ext uri="{FF2B5EF4-FFF2-40B4-BE49-F238E27FC236}">
                <a16:creationId xmlns:a16="http://schemas.microsoft.com/office/drawing/2014/main" id="{97338CFD-3FFF-4324-B19A-2CE5388B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66900"/>
            <a:ext cx="569595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FBA24"/>
            </a:solidFill>
            <a:prstDash val="solid"/>
          </a:ln>
        </p:spPr>
      </p:sp>
      <p:sp>
        <p:nvSpPr>
          <p:cNvPr id="10" name="customer-label">
            <a:extLst xmlns:a="http://schemas.openxmlformats.org/drawingml/2006/main">
              <a:ext uri="{FF2B5EF4-FFF2-40B4-BE49-F238E27FC236}">
                <a16:creationId xmlns:a16="http://schemas.microsoft.com/office/drawing/2014/main" id="{6D71D304-7D1C-4C73-ABB9-EF0EAECC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438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9000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D99000"/>
                </a:solidFill>
                <a:latin typeface="Manrope"/>
                <a:ea typeface="Manrope"/>
                <a:cs typeface="Manrope"/>
              </a:rPr>
              <a:t>КЛИЕНТ СПРАШИВАЕТ</a:t>
            </a:r>
          </a:p>
        </p:txBody>
      </p:sp>
      <p:sp>
        <p:nvSpPr>
          <p:cNvPr id="11" name="question-0-dot">
            <a:extLst xmlns:a="http://schemas.openxmlformats.org/drawingml/2006/main">
              <a:ext uri="{FF2B5EF4-FFF2-40B4-BE49-F238E27FC236}">
                <a16:creationId xmlns:a16="http://schemas.microsoft.com/office/drawing/2014/main" id="{57F2F098-4E0C-4CFB-91EB-70858A9D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336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question-0-num">
            <a:extLst xmlns:a="http://schemas.openxmlformats.org/drawingml/2006/main">
              <a:ext uri="{FF2B5EF4-FFF2-40B4-BE49-F238E27FC236}">
                <a16:creationId xmlns:a16="http://schemas.microsoft.com/office/drawing/2014/main" id="{21AE24D1-4898-4F1B-89DB-D69446F1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13" name="question-0-text">
            <a:extLst xmlns:a="http://schemas.openxmlformats.org/drawingml/2006/main">
              <a:ext uri="{FF2B5EF4-FFF2-40B4-BE49-F238E27FC236}">
                <a16:creationId xmlns:a16="http://schemas.microsoft.com/office/drawing/2014/main" id="{3D66E011-6285-49CF-97B5-3FAC4A5A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Что реально получится с моей вещью?</a:t>
            </a:r>
          </a:p>
        </p:txBody>
      </p:sp>
      <p:sp>
        <p:nvSpPr>
          <p:cNvPr id="14" name="question-1-dot">
            <a:extLst xmlns:a="http://schemas.openxmlformats.org/drawingml/2006/main">
              <a:ext uri="{FF2B5EF4-FFF2-40B4-BE49-F238E27FC236}">
                <a16:creationId xmlns:a16="http://schemas.microsoft.com/office/drawing/2014/main" id="{B2EDDB21-0280-4098-A1B3-FA1C4616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289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question-1-num">
            <a:extLst xmlns:a="http://schemas.openxmlformats.org/drawingml/2006/main">
              <a:ext uri="{FF2B5EF4-FFF2-40B4-BE49-F238E27FC236}">
                <a16:creationId xmlns:a16="http://schemas.microsoft.com/office/drawing/2014/main" id="{2BCCB115-991C-4160-97F5-C9399FA1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6" name="question-1-text">
            <a:extLst xmlns:a="http://schemas.openxmlformats.org/drawingml/2006/main">
              <a:ext uri="{FF2B5EF4-FFF2-40B4-BE49-F238E27FC236}">
                <a16:creationId xmlns:a16="http://schemas.microsoft.com/office/drawing/2014/main" id="{1F69D415-8C6B-4511-9919-E3E9B8DE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Не собьётся ли пух и не изменится ли цвет?</a:t>
            </a:r>
          </a:p>
        </p:txBody>
      </p:sp>
      <p:sp>
        <p:nvSpPr>
          <p:cNvPr id="17" name="question-2-dot">
            <a:extLst xmlns:a="http://schemas.openxmlformats.org/drawingml/2006/main">
              <a:ext uri="{FF2B5EF4-FFF2-40B4-BE49-F238E27FC236}">
                <a16:creationId xmlns:a16="http://schemas.microsoft.com/office/drawing/2014/main" id="{F229E553-9C10-4B5D-BA48-BD81F9B5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242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question-2-num">
            <a:extLst xmlns:a="http://schemas.openxmlformats.org/drawingml/2006/main">
              <a:ext uri="{FF2B5EF4-FFF2-40B4-BE49-F238E27FC236}">
                <a16:creationId xmlns:a16="http://schemas.microsoft.com/office/drawing/2014/main" id="{54725CDA-0E3A-4712-813B-584C3A4A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0522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9" name="question-2-text">
            <a:extLst xmlns:a="http://schemas.openxmlformats.org/drawingml/2006/main">
              <a:ext uri="{FF2B5EF4-FFF2-40B4-BE49-F238E27FC236}">
                <a16:creationId xmlns:a16="http://schemas.microsoft.com/office/drawing/2014/main" id="{99C699CE-C902-40F7-8FED-0EBE42F4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5760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Сколько будет стоить итоговый заказ?</a:t>
            </a:r>
          </a:p>
        </p:txBody>
      </p:sp>
      <p:sp>
        <p:nvSpPr>
          <p:cNvPr id="20" name="question-3-dot">
            <a:extLst xmlns:a="http://schemas.openxmlformats.org/drawingml/2006/main">
              <a:ext uri="{FF2B5EF4-FFF2-40B4-BE49-F238E27FC236}">
                <a16:creationId xmlns:a16="http://schemas.microsoft.com/office/drawing/2014/main" id="{170F7DB1-9735-4739-A0A9-93FBD616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195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question-3-num">
            <a:extLst xmlns:a="http://schemas.openxmlformats.org/drawingml/2006/main">
              <a:ext uri="{FF2B5EF4-FFF2-40B4-BE49-F238E27FC236}">
                <a16:creationId xmlns:a16="http://schemas.microsoft.com/office/drawing/2014/main" id="{CAE41CD2-4D20-416A-BFC7-13EF8CA6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22" name="question-3-text">
            <a:extLst xmlns:a="http://schemas.openxmlformats.org/drawingml/2006/main">
              <a:ext uri="{FF2B5EF4-FFF2-40B4-BE49-F238E27FC236}">
                <a16:creationId xmlns:a16="http://schemas.microsoft.com/office/drawing/2014/main" id="{550B67BF-0D6C-4B1A-B443-B23ADF96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290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Когда и где я получу вещь обратно?</a:t>
            </a:r>
          </a:p>
        </p:txBody>
      </p:sp>
      <p:sp>
        <p:nvSpPr>
          <p:cNvPr id="23" name="question-4-dot">
            <a:extLst xmlns:a="http://schemas.openxmlformats.org/drawingml/2006/main">
              <a:ext uri="{FF2B5EF4-FFF2-40B4-BE49-F238E27FC236}">
                <a16:creationId xmlns:a16="http://schemas.microsoft.com/office/drawing/2014/main" id="{ED045A67-DF5F-4C3C-88EB-6DC02156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14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question-4-num">
            <a:extLst xmlns:a="http://schemas.openxmlformats.org/drawingml/2006/main">
              <a:ext uri="{FF2B5EF4-FFF2-40B4-BE49-F238E27FC236}">
                <a16:creationId xmlns:a16="http://schemas.microsoft.com/office/drawing/2014/main" id="{83DAEADF-0C80-49D1-8CAC-C647F0DC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95825"/>
            <a:ext cx="238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25" name="question-4-text">
            <a:extLst xmlns:a="http://schemas.openxmlformats.org/drawingml/2006/main">
              <a:ext uri="{FF2B5EF4-FFF2-40B4-BE49-F238E27FC236}">
                <a16:creationId xmlns:a16="http://schemas.microsoft.com/office/drawing/2014/main" id="{18C33509-2AD9-4D4F-BAB5-9807F9D9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48200"/>
            <a:ext cx="438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500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Что произойдёт, если результат спорный?</a:t>
            </a:r>
          </a:p>
        </p:txBody>
      </p:sp>
      <p:sp>
        <p:nvSpPr>
          <p:cNvPr id="26" name="bridge-claim">
            <a:extLst xmlns:a="http://schemas.openxmlformats.org/drawingml/2006/main">
              <a:ext uri="{FF2B5EF4-FFF2-40B4-BE49-F238E27FC236}">
                <a16:creationId xmlns:a16="http://schemas.microsoft.com/office/drawing/2014/main" id="{BC28F47F-CC79-434B-B7A1-366286F6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867400"/>
            <a:ext cx="78486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bridge-claim-text">
            <a:extLst xmlns:a="http://schemas.openxmlformats.org/drawingml/2006/main">
              <a:ext uri="{FF2B5EF4-FFF2-40B4-BE49-F238E27FC236}">
                <a16:creationId xmlns:a16="http://schemas.microsoft.com/office/drawing/2014/main" id="{1A74F863-991A-489A-98B6-8BD3BFE2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867400"/>
            <a:ext cx="7391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Прайс подтверждает цену. Главное предложение объясняет результат, риск и следующий шаг.</a:t>
            </a:r>
          </a:p>
        </p:txBody>
      </p:sp>
      <p:sp>
        <p:nvSpPr>
          <p:cNvPr id="2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3E94E55-762F-4B22-975A-15574472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44E2378-4D07-4FA0-9818-FD2B7427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7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Основание: публичная упаковка UNISEC и подробные отзывы клиентов</a:t>
            </a:r>
          </a:p>
        </p:txBody>
      </p:sp>
      <p:sp>
        <p:nvSpPr>
          <p:cNvPr id="30" name="page-marker">
            <a:extLst xmlns:a="http://schemas.openxmlformats.org/drawingml/2006/main">
              <a:ext uri="{FF2B5EF4-FFF2-40B4-BE49-F238E27FC236}">
                <a16:creationId xmlns:a16="http://schemas.microsoft.com/office/drawing/2014/main" id="{3B3C272D-36A6-4A39-A187-E700FE0B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64963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D24D910-4E2D-4F6C-AAD6-855D337F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C6799123-0109-484E-B800-C8F9A465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666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A0CF9212-8364-49E3-A1DB-F406A408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КЛИЕНТ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F8453F5-8A20-4628-B865-576D92A2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30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Первый коммерческий фокус — сезонный гардероб семьи из 2–5 вещей.</a:t>
            </a:r>
          </a:p>
        </p:txBody>
      </p:sp>
      <p:sp>
        <p:nvSpPr>
          <p:cNvPr id="5" name="ranking-label">
            <a:extLst xmlns:a="http://schemas.openxmlformats.org/drawingml/2006/main">
              <a:ext uri="{FF2B5EF4-FFF2-40B4-BE49-F238E27FC236}">
                <a16:creationId xmlns:a16="http://schemas.microsoft.com/office/drawing/2014/main" id="{317B1757-D2B9-4791-9673-A56C3C24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ПРИОРИТЕТ ГРУПП</a:t>
            </a:r>
          </a:p>
        </p:txBody>
      </p:sp>
      <p:sp>
        <p:nvSpPr>
          <p:cNvPr id="6" name="group-0-circle">
            <a:extLst xmlns:a="http://schemas.openxmlformats.org/drawingml/2006/main">
              <a:ext uri="{FF2B5EF4-FFF2-40B4-BE49-F238E27FC236}">
                <a16:creationId xmlns:a16="http://schemas.microsoft.com/office/drawing/2014/main" id="{9BA52DBD-DA3C-418C-956C-65A2F07F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group-0-label">
            <a:extLst xmlns:a="http://schemas.openxmlformats.org/drawingml/2006/main">
              <a:ext uri="{FF2B5EF4-FFF2-40B4-BE49-F238E27FC236}">
                <a16:creationId xmlns:a16="http://schemas.microsoft.com/office/drawing/2014/main" id="{23E0B67B-38C0-4E27-B5BE-C00B31AE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8" name="group-0-label">
            <a:extLst xmlns:a="http://schemas.openxmlformats.org/drawingml/2006/main">
              <a:ext uri="{FF2B5EF4-FFF2-40B4-BE49-F238E27FC236}">
                <a16:creationId xmlns:a16="http://schemas.microsoft.com/office/drawing/2014/main" id="{8326D94E-9C26-4E86-B7EE-99360B18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669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57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Семья · 2–5 вещей</a:t>
            </a:r>
          </a:p>
        </p:txBody>
      </p:sp>
      <p:sp>
        <p:nvSpPr>
          <p:cNvPr id="9" name="group-0-note">
            <a:extLst xmlns:a="http://schemas.openxmlformats.org/drawingml/2006/main">
              <a:ext uri="{FF2B5EF4-FFF2-40B4-BE49-F238E27FC236}">
                <a16:creationId xmlns:a16="http://schemas.microsoft.com/office/drawing/2014/main" id="{AC1F27C6-3B2D-4030-9B09-ABB31919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массовый первый заказ</a:t>
            </a:r>
          </a:p>
        </p:txBody>
      </p:sp>
      <p:sp>
        <p:nvSpPr>
          <p:cNvPr id="10" name="group-0-rule">
            <a:extLst xmlns:a="http://schemas.openxmlformats.org/drawingml/2006/main">
              <a:ext uri="{FF2B5EF4-FFF2-40B4-BE49-F238E27FC236}">
                <a16:creationId xmlns:a16="http://schemas.microsoft.com/office/drawing/2014/main" id="{A7F87381-8985-479A-86A6-4B78CCD3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146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group-1-circle">
            <a:extLst xmlns:a="http://schemas.openxmlformats.org/drawingml/2006/main">
              <a:ext uri="{FF2B5EF4-FFF2-40B4-BE49-F238E27FC236}">
                <a16:creationId xmlns:a16="http://schemas.microsoft.com/office/drawing/2014/main" id="{3E48DE29-A711-4BD5-96C6-10FFAAC8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group-1-label">
            <a:extLst xmlns:a="http://schemas.openxmlformats.org/drawingml/2006/main">
              <a:ext uri="{FF2B5EF4-FFF2-40B4-BE49-F238E27FC236}">
                <a16:creationId xmlns:a16="http://schemas.microsoft.com/office/drawing/2014/main" id="{C5092AB0-1A32-4735-889D-397498D0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3" name="group-1-label">
            <a:extLst xmlns:a="http://schemas.openxmlformats.org/drawingml/2006/main">
              <a:ext uri="{FF2B5EF4-FFF2-40B4-BE49-F238E27FC236}">
                <a16:creationId xmlns:a16="http://schemas.microsoft.com/office/drawing/2014/main" id="{8A802B87-B9D0-4647-A97E-0E943464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Дорогая сложная вещь</a:t>
            </a:r>
          </a:p>
        </p:txBody>
      </p:sp>
      <p:sp>
        <p:nvSpPr>
          <p:cNvPr id="14" name="group-1-note">
            <a:extLst xmlns:a="http://schemas.openxmlformats.org/drawingml/2006/main">
              <a:ext uri="{FF2B5EF4-FFF2-40B4-BE49-F238E27FC236}">
                <a16:creationId xmlns:a16="http://schemas.microsoft.com/office/drawing/2014/main" id="{204D4632-A541-4E51-B159-5BDD991A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909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доверие и высокая ценность</a:t>
            </a:r>
          </a:p>
        </p:txBody>
      </p:sp>
      <p:sp>
        <p:nvSpPr>
          <p:cNvPr id="15" name="group-1-rule">
            <a:extLst xmlns:a="http://schemas.openxmlformats.org/drawingml/2006/main">
              <a:ext uri="{FF2B5EF4-FFF2-40B4-BE49-F238E27FC236}">
                <a16:creationId xmlns:a16="http://schemas.microsoft.com/office/drawing/2014/main" id="{A72BF734-1B1E-4019-8810-CD08B07B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338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group-2-circle">
            <a:extLst xmlns:a="http://schemas.openxmlformats.org/drawingml/2006/main">
              <a:ext uri="{FF2B5EF4-FFF2-40B4-BE49-F238E27FC236}">
                <a16:creationId xmlns:a16="http://schemas.microsoft.com/office/drawing/2014/main" id="{E95A2B54-048B-4FEC-A864-D80361B2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group-2-label">
            <a:extLst xmlns:a="http://schemas.openxmlformats.org/drawingml/2006/main">
              <a:ext uri="{FF2B5EF4-FFF2-40B4-BE49-F238E27FC236}">
                <a16:creationId xmlns:a16="http://schemas.microsoft.com/office/drawing/2014/main" id="{074A4ED6-BF30-4D8D-83C1-EEF695E3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8" name="group-2-label">
            <a:extLst xmlns:a="http://schemas.openxmlformats.org/drawingml/2006/main">
              <a:ext uri="{FF2B5EF4-FFF2-40B4-BE49-F238E27FC236}">
                <a16:creationId xmlns:a16="http://schemas.microsoft.com/office/drawing/2014/main" id="{BF0FC3A1-410A-4EF9-AF2F-CCF284CD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Занятой клиент</a:t>
            </a:r>
          </a:p>
        </p:txBody>
      </p:sp>
      <p:sp>
        <p:nvSpPr>
          <p:cNvPr id="19" name="group-2-note">
            <a:extLst xmlns:a="http://schemas.openxmlformats.org/drawingml/2006/main">
              <a:ext uri="{FF2B5EF4-FFF2-40B4-BE49-F238E27FC236}">
                <a16:creationId xmlns:a16="http://schemas.microsoft.com/office/drawing/2014/main" id="{D46CAE30-E237-458A-9B04-7ACB204F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1005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курьер и экономия времени</a:t>
            </a:r>
          </a:p>
        </p:txBody>
      </p:sp>
      <p:sp>
        <p:nvSpPr>
          <p:cNvPr id="20" name="group-2-rule">
            <a:extLst xmlns:a="http://schemas.openxmlformats.org/drawingml/2006/main">
              <a:ext uri="{FF2B5EF4-FFF2-40B4-BE49-F238E27FC236}">
                <a16:creationId xmlns:a16="http://schemas.microsoft.com/office/drawing/2014/main" id="{86EDCD92-3563-4B39-A724-550FA928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529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group-3-circle">
            <a:extLst xmlns:a="http://schemas.openxmlformats.org/drawingml/2006/main">
              <a:ext uri="{FF2B5EF4-FFF2-40B4-BE49-F238E27FC236}">
                <a16:creationId xmlns:a16="http://schemas.microsoft.com/office/drawing/2014/main" id="{4A49919A-21A4-4B10-88AC-1A9240F9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5A0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group-3-label">
            <a:extLst xmlns:a="http://schemas.openxmlformats.org/drawingml/2006/main">
              <a:ext uri="{FF2B5EF4-FFF2-40B4-BE49-F238E27FC236}">
                <a16:creationId xmlns:a16="http://schemas.microsoft.com/office/drawing/2014/main" id="{CC8ED46C-1CC0-4FAF-87C5-F83FABDF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23" name="group-3-label">
            <a:extLst xmlns:a="http://schemas.openxmlformats.org/drawingml/2006/main">
              <a:ext uri="{FF2B5EF4-FFF2-40B4-BE49-F238E27FC236}">
                <a16:creationId xmlns:a16="http://schemas.microsoft.com/office/drawing/2014/main" id="{84B0F1ED-BDE2-49D0-B136-C898611A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244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575" b="0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Родители детской одежды</a:t>
            </a:r>
          </a:p>
        </p:txBody>
      </p:sp>
      <p:sp>
        <p:nvSpPr>
          <p:cNvPr id="24" name="group-3-note">
            <a:extLst xmlns:a="http://schemas.openxmlformats.org/drawingml/2006/main">
              <a:ext uri="{FF2B5EF4-FFF2-40B4-BE49-F238E27FC236}">
                <a16:creationId xmlns:a16="http://schemas.microsoft.com/office/drawing/2014/main" id="{D606AABE-F631-4E24-BB31-35650D7A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292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сезон и несколько изделий</a:t>
            </a:r>
          </a:p>
        </p:txBody>
      </p:sp>
      <p:sp>
        <p:nvSpPr>
          <p:cNvPr id="25" name="primary-job-panel">
            <a:extLst xmlns:a="http://schemas.openxmlformats.org/drawingml/2006/main">
              <a:ext uri="{FF2B5EF4-FFF2-40B4-BE49-F238E27FC236}">
                <a16:creationId xmlns:a16="http://schemas.microsoft.com/office/drawing/2014/main" id="{2E42CA44-ABA8-4C57-AD8B-4E49BBC5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90700"/>
            <a:ext cx="62674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first-launch-bg">
            <a:extLst xmlns:a="http://schemas.openxmlformats.org/drawingml/2006/main">
              <a:ext uri="{FF2B5EF4-FFF2-40B4-BE49-F238E27FC236}">
                <a16:creationId xmlns:a16="http://schemas.microsoft.com/office/drawing/2014/main" id="{4047DDCF-F482-4EA3-B3F4-A1D8E939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irst-launch-text">
            <a:extLst xmlns:a="http://schemas.openxmlformats.org/drawingml/2006/main">
              <a:ext uri="{FF2B5EF4-FFF2-40B4-BE49-F238E27FC236}">
                <a16:creationId xmlns:a16="http://schemas.microsoft.com/office/drawing/2014/main" id="{6DA5E500-F33C-4854-B02D-523EB693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9550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ПЕРВЫЙ ЗАПУСК</a:t>
            </a:r>
          </a:p>
        </p:txBody>
      </p:sp>
      <p:sp>
        <p:nvSpPr>
          <p:cNvPr id="28" name="job-title">
            <a:extLst xmlns:a="http://schemas.openxmlformats.org/drawingml/2006/main">
              <a:ext uri="{FF2B5EF4-FFF2-40B4-BE49-F238E27FC236}">
                <a16:creationId xmlns:a16="http://schemas.microsoft.com/office/drawing/2014/main" id="{A853BE0D-43BD-4BE3-9E76-B86601B3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4857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9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За один раз привести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9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сезонный гардероб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9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семьи в порядок</a:t>
            </a:r>
          </a:p>
        </p:txBody>
      </p:sp>
      <p:sp>
        <p:nvSpPr>
          <p:cNvPr id="29" name="when-label">
            <a:extLst xmlns:a="http://schemas.openxmlformats.org/drawingml/2006/main">
              <a:ext uri="{FF2B5EF4-FFF2-40B4-BE49-F238E27FC236}">
                <a16:creationId xmlns:a16="http://schemas.microsoft.com/office/drawing/2014/main" id="{E8FE99F1-5821-43D4-9513-A8A57ECD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005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КОГДА</a:t>
            </a:r>
          </a:p>
        </p:txBody>
      </p:sp>
      <p:sp>
        <p:nvSpPr>
          <p:cNvPr id="30" name="when-text">
            <a:extLst xmlns:a="http://schemas.openxmlformats.org/drawingml/2006/main">
              <a:ext uri="{FF2B5EF4-FFF2-40B4-BE49-F238E27FC236}">
                <a16:creationId xmlns:a16="http://schemas.microsoft.com/office/drawing/2014/main" id="{B05DE4D1-1ADB-4F22-8D4D-204C893A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81500"/>
            <a:ext cx="428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1EC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E7E1EC"/>
                </a:solidFill>
                <a:latin typeface="Manrope"/>
                <a:ea typeface="Manrope"/>
                <a:cs typeface="Manrope"/>
              </a:rPr>
              <a:t>конец сезона · август–сентябрь · первые холода</a:t>
            </a:r>
          </a:p>
        </p:txBody>
      </p:sp>
      <p:sp>
        <p:nvSpPr>
          <p:cNvPr id="31" name="important-label">
            <a:extLst xmlns:a="http://schemas.openxmlformats.org/drawingml/2006/main">
              <a:ext uri="{FF2B5EF4-FFF2-40B4-BE49-F238E27FC236}">
                <a16:creationId xmlns:a16="http://schemas.microsoft.com/office/drawing/2014/main" id="{3EF9506F-B339-4676-B793-71634684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577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ВАЖНО</a:t>
            </a:r>
          </a:p>
        </p:txBody>
      </p:sp>
      <p:sp>
        <p:nvSpPr>
          <p:cNvPr id="32" name="important-text">
            <a:extLst xmlns:a="http://schemas.openxmlformats.org/drawingml/2006/main">
              <a:ext uri="{FF2B5EF4-FFF2-40B4-BE49-F238E27FC236}">
                <a16:creationId xmlns:a16="http://schemas.microsoft.com/office/drawing/2014/main" id="{D363D79C-5004-41CC-A6FD-3E9F0B6A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8700"/>
            <a:ext cx="447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1EC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E7E1EC"/>
                </a:solidFill>
                <a:latin typeface="Manrope"/>
                <a:ea typeface="Manrope"/>
                <a:cs typeface="Manrope"/>
              </a:rPr>
              <a:t>сохранность · понятная цена · близкий пункт/курьер · срок</a:t>
            </a:r>
          </a:p>
        </p:txBody>
      </p:sp>
      <p:sp>
        <p:nvSpPr>
          <p:cNvPr id="33" name="barrier-label">
            <a:extLst xmlns:a="http://schemas.openxmlformats.org/drawingml/2006/main">
              <a:ext uri="{FF2B5EF4-FFF2-40B4-BE49-F238E27FC236}">
                <a16:creationId xmlns:a16="http://schemas.microsoft.com/office/drawing/2014/main" id="{9700AEBC-9965-42A8-B772-3111BD05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911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МЕШАЕТ</a:t>
            </a:r>
          </a:p>
        </p:txBody>
      </p:sp>
      <p:sp>
        <p:nvSpPr>
          <p:cNvPr id="34" name="barrier-text">
            <a:extLst xmlns:a="http://schemas.openxmlformats.org/drawingml/2006/main">
              <a:ext uri="{FF2B5EF4-FFF2-40B4-BE49-F238E27FC236}">
                <a16:creationId xmlns:a16="http://schemas.microsoft.com/office/drawing/2014/main" id="{CC1F30B0-8708-4861-AF36-83BFBE52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721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7E1EC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E7E1EC"/>
                </a:solidFill>
                <a:latin typeface="Manrope"/>
                <a:ea typeface="Manrope"/>
                <a:cs typeface="Manrope"/>
              </a:rPr>
              <a:t>страх повреждения · непредсказуемый итог · сложный прайс</a:t>
            </a:r>
          </a:p>
        </p:txBody>
      </p:sp>
      <p:sp>
        <p:nvSpPr>
          <p:cNvPr id="3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24ADECC-7229-44FD-AFB8-7EEAFAF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0B66EFF-EEDE-42AC-95BA-D65380BE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7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Приоритет групп — стратегический порядок теста, а не доли рынка</a:t>
            </a:r>
          </a:p>
        </p:txBody>
      </p:sp>
      <p:sp>
        <p:nvSpPr>
          <p:cNvPr id="3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B83BF5B-68AE-40E2-91F9-E40F2F47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567360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9FD1C73-78EC-436D-85C7-258A1645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2B223A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4E302359-A3E5-4F43-AD45-F164D787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666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272AE9D3-5662-428A-9ECF-A3A6B508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ОБЕЩАНИЕ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75FE6B-B6C3-45DC-A932-49EE9D69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9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Честная оценка станет обещанием только тогда, когда её докажет процесс.</a:t>
            </a:r>
          </a:p>
        </p:txBody>
      </p:sp>
      <p:sp>
        <p:nvSpPr>
          <p:cNvPr id="5" name="promise-panel">
            <a:extLst xmlns:a="http://schemas.openxmlformats.org/drawingml/2006/main">
              <a:ext uri="{FF2B5EF4-FFF2-40B4-BE49-F238E27FC236}">
                <a16:creationId xmlns:a16="http://schemas.microsoft.com/office/drawing/2014/main" id="{9DBEC72E-952B-4505-88FB-1125D09D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1054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352A46"/>
          </a:solidFill>
          <a:ln xmlns:a="http://schemas.openxmlformats.org/drawingml/2006/main" w="9525">
            <a:solidFill>
              <a:srgbClr val="594C68"/>
            </a:solidFill>
            <a:prstDash val="solid"/>
          </a:ln>
        </p:spPr>
      </p:sp>
      <p:sp>
        <p:nvSpPr>
          <p:cNvPr id="6" name="promise-label">
            <a:extLst xmlns:a="http://schemas.openxmlformats.org/drawingml/2006/main">
              <a:ext uri="{FF2B5EF4-FFF2-40B4-BE49-F238E27FC236}">
                <a16:creationId xmlns:a16="http://schemas.microsoft.com/office/drawing/2014/main" id="{084FAB50-7989-45F3-860D-314CC83C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РАБОЧИЙ ВАРИАНТ</a:t>
            </a:r>
          </a:p>
        </p:txBody>
      </p:sp>
      <p:sp>
        <p:nvSpPr>
          <p:cNvPr id="7" name="promise-text">
            <a:extLst xmlns:a="http://schemas.openxmlformats.org/drawingml/2006/main">
              <a:ext uri="{FF2B5EF4-FFF2-40B4-BE49-F238E27FC236}">
                <a16:creationId xmlns:a16="http://schemas.microsoft.com/office/drawing/2014/main" id="{EFDD46BC-8975-40EA-8008-53AD54AB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409575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9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Сначала честно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9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оцениваем вещь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9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и возможный результат.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9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Потом чистим.</a:t>
            </a:r>
          </a:p>
        </p:txBody>
      </p:sp>
      <p:sp>
        <p:nvSpPr>
          <p:cNvPr id="8" name="promise-warning-bg">
            <a:extLst xmlns:a="http://schemas.openxmlformats.org/drawingml/2006/main">
              <a:ext uri="{FF2B5EF4-FFF2-40B4-BE49-F238E27FC236}">
                <a16:creationId xmlns:a16="http://schemas.microsoft.com/office/drawing/2014/main" id="{11764ADB-2A20-4840-83DE-E548587F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2952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B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promise-warning-text">
            <a:extLst xmlns:a="http://schemas.openxmlformats.org/drawingml/2006/main">
              <a:ext uri="{FF2B5EF4-FFF2-40B4-BE49-F238E27FC236}">
                <a16:creationId xmlns:a16="http://schemas.microsoft.com/office/drawing/2014/main" id="{7EFA7203-A8FC-4E35-9A62-A57FD51D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2724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D9D9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D9D9"/>
                </a:solidFill>
                <a:latin typeface="Manrope"/>
                <a:ea typeface="Manrope"/>
                <a:cs typeface="Manrope"/>
              </a:rPr>
              <a:t>НЕ ГАРАНТИЯ ЛЮБОГО ПЯТНА</a:t>
            </a:r>
          </a:p>
        </p:txBody>
      </p:sp>
      <p:sp>
        <p:nvSpPr>
          <p:cNvPr id="10" name="proof-label">
            <a:extLst xmlns:a="http://schemas.openxmlformats.org/drawingml/2006/main">
              <a:ext uri="{FF2B5EF4-FFF2-40B4-BE49-F238E27FC236}">
                <a16:creationId xmlns:a16="http://schemas.microsoft.com/office/drawing/2014/main" id="{5C50590F-D142-48E8-8DA0-6CB07C5F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240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6 ДОКАЗАТЕЛЬСТВ</a:t>
            </a:r>
          </a:p>
        </p:txBody>
      </p:sp>
      <p:sp>
        <p:nvSpPr>
          <p:cNvPr id="11" name="proof-0-bar">
            <a:extLst xmlns:a="http://schemas.openxmlformats.org/drawingml/2006/main">
              <a:ext uri="{FF2B5EF4-FFF2-40B4-BE49-F238E27FC236}">
                <a16:creationId xmlns:a16="http://schemas.microsoft.com/office/drawing/2014/main" id="{A07CEE23-987F-4FB6-B59F-172593CA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4572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proof-0-num">
            <a:extLst xmlns:a="http://schemas.openxmlformats.org/drawingml/2006/main">
              <a:ext uri="{FF2B5EF4-FFF2-40B4-BE49-F238E27FC236}">
                <a16:creationId xmlns:a16="http://schemas.microsoft.com/office/drawing/2014/main" id="{509E2C98-BCC8-4599-888D-DDB9F7D9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38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13" name="proof-0-label">
            <a:extLst xmlns:a="http://schemas.openxmlformats.org/drawingml/2006/main">
              <a:ext uri="{FF2B5EF4-FFF2-40B4-BE49-F238E27FC236}">
                <a16:creationId xmlns:a16="http://schemas.microsoft.com/office/drawing/2014/main" id="{91E3DC39-2089-4320-921E-189D1D71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3810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Фото и состояние вещи</a:t>
            </a:r>
          </a:p>
        </p:txBody>
      </p:sp>
      <p:sp>
        <p:nvSpPr>
          <p:cNvPr id="14" name="proof-1-bar">
            <a:extLst xmlns:a="http://schemas.openxmlformats.org/drawingml/2006/main">
              <a:ext uri="{FF2B5EF4-FFF2-40B4-BE49-F238E27FC236}">
                <a16:creationId xmlns:a16="http://schemas.microsoft.com/office/drawing/2014/main" id="{5824985E-2F72-48CE-84F8-17A74739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400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proof-1-num">
            <a:extLst xmlns:a="http://schemas.openxmlformats.org/drawingml/2006/main">
              <a:ext uri="{FF2B5EF4-FFF2-40B4-BE49-F238E27FC236}">
                <a16:creationId xmlns:a16="http://schemas.microsoft.com/office/drawing/2014/main" id="{DFEDB251-9A70-412E-9E7B-8E755AA7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95600"/>
            <a:ext cx="38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6" name="proof-1-label">
            <a:extLst xmlns:a="http://schemas.openxmlformats.org/drawingml/2006/main">
              <a:ext uri="{FF2B5EF4-FFF2-40B4-BE49-F238E27FC236}">
                <a16:creationId xmlns:a16="http://schemas.microsoft.com/office/drawing/2014/main" id="{6D107946-9406-4E67-87D5-71AD777A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95600"/>
            <a:ext cx="3638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Что уйдёт, что может остаться</a:t>
            </a:r>
          </a:p>
        </p:txBody>
      </p:sp>
      <p:sp>
        <p:nvSpPr>
          <p:cNvPr id="17" name="proof-2-bar">
            <a:extLst xmlns:a="http://schemas.openxmlformats.org/drawingml/2006/main">
              <a:ext uri="{FF2B5EF4-FFF2-40B4-BE49-F238E27FC236}">
                <a16:creationId xmlns:a16="http://schemas.microsoft.com/office/drawing/2014/main" id="{4246BCED-BAFF-4653-B899-798FC6B3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48050"/>
            <a:ext cx="42291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roof-2-num">
            <a:extLst xmlns:a="http://schemas.openxmlformats.org/drawingml/2006/main">
              <a:ext uri="{FF2B5EF4-FFF2-40B4-BE49-F238E27FC236}">
                <a16:creationId xmlns:a16="http://schemas.microsoft.com/office/drawing/2014/main" id="{988ED819-E1E5-4465-95A1-4E4EEC92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48050"/>
            <a:ext cx="38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9" name="proof-2-label">
            <a:extLst xmlns:a="http://schemas.openxmlformats.org/drawingml/2006/main">
              <a:ext uri="{FF2B5EF4-FFF2-40B4-BE49-F238E27FC236}">
                <a16:creationId xmlns:a16="http://schemas.microsoft.com/office/drawing/2014/main" id="{A23D9E9A-A2F5-48D5-A6D8-424F20F1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3467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Риски материала и фурнитуры</a:t>
            </a:r>
          </a:p>
        </p:txBody>
      </p:sp>
      <p:sp>
        <p:nvSpPr>
          <p:cNvPr id="20" name="proof-3-bar">
            <a:extLst xmlns:a="http://schemas.openxmlformats.org/drawingml/2006/main">
              <a:ext uri="{FF2B5EF4-FFF2-40B4-BE49-F238E27FC236}">
                <a16:creationId xmlns:a16="http://schemas.microsoft.com/office/drawing/2014/main" id="{EE8B8CA1-67B9-40FD-A5AE-008C34E5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40576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proof-3-num">
            <a:extLst xmlns:a="http://schemas.openxmlformats.org/drawingml/2006/main">
              <a:ext uri="{FF2B5EF4-FFF2-40B4-BE49-F238E27FC236}">
                <a16:creationId xmlns:a16="http://schemas.microsoft.com/office/drawing/2014/main" id="{3A0D60E7-F7CB-4345-82B1-9DD32F31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00500"/>
            <a:ext cx="38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2" name="proof-3-label">
            <a:extLst xmlns:a="http://schemas.openxmlformats.org/drawingml/2006/main">
              <a:ext uri="{FF2B5EF4-FFF2-40B4-BE49-F238E27FC236}">
                <a16:creationId xmlns:a16="http://schemas.microsoft.com/office/drawing/2014/main" id="{5314FBEE-8992-41A4-8B9B-AAB38489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00500"/>
            <a:ext cx="3295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Подтверждённые цена и срок</a:t>
            </a:r>
          </a:p>
        </p:txBody>
      </p:sp>
      <p:sp>
        <p:nvSpPr>
          <p:cNvPr id="23" name="proof-4-bar">
            <a:extLst xmlns:a="http://schemas.openxmlformats.org/drawingml/2006/main">
              <a:ext uri="{FF2B5EF4-FFF2-40B4-BE49-F238E27FC236}">
                <a16:creationId xmlns:a16="http://schemas.microsoft.com/office/drawing/2014/main" id="{05B57A9F-8A43-4694-8B6C-CA404443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52950"/>
            <a:ext cx="38862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proof-4-num">
            <a:extLst xmlns:a="http://schemas.openxmlformats.org/drawingml/2006/main">
              <a:ext uri="{FF2B5EF4-FFF2-40B4-BE49-F238E27FC236}">
                <a16:creationId xmlns:a16="http://schemas.microsoft.com/office/drawing/2014/main" id="{B1A4C1DC-1776-4339-8659-72638F02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52950"/>
            <a:ext cx="38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5" name="proof-4-label">
            <a:extLst xmlns:a="http://schemas.openxmlformats.org/drawingml/2006/main">
              <a:ext uri="{FF2B5EF4-FFF2-40B4-BE49-F238E27FC236}">
                <a16:creationId xmlns:a16="http://schemas.microsoft.com/office/drawing/2014/main" id="{F35D9D99-1AFE-4A2C-832E-13575C59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52950"/>
            <a:ext cx="3124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Контроль перед выдачей</a:t>
            </a:r>
          </a:p>
        </p:txBody>
      </p:sp>
      <p:sp>
        <p:nvSpPr>
          <p:cNvPr id="26" name="proof-5-bar">
            <a:extLst xmlns:a="http://schemas.openxmlformats.org/drawingml/2006/main">
              <a:ext uri="{FF2B5EF4-FFF2-40B4-BE49-F238E27FC236}">
                <a16:creationId xmlns:a16="http://schemas.microsoft.com/office/drawing/2014/main" id="{C8142F67-CA4B-422C-A558-18060ABB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05400"/>
            <a:ext cx="3714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roof-5-num">
            <a:extLst xmlns:a="http://schemas.openxmlformats.org/drawingml/2006/main">
              <a:ext uri="{FF2B5EF4-FFF2-40B4-BE49-F238E27FC236}">
                <a16:creationId xmlns:a16="http://schemas.microsoft.com/office/drawing/2014/main" id="{E291D125-9AFD-49DF-AFBC-C16EF9AB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105400"/>
            <a:ext cx="381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28" name="proof-5-label">
            <a:extLst xmlns:a="http://schemas.openxmlformats.org/drawingml/2006/main">
              <a:ext uri="{FF2B5EF4-FFF2-40B4-BE49-F238E27FC236}">
                <a16:creationId xmlns:a16="http://schemas.microsoft.com/office/drawing/2014/main" id="{4D5AEA53-8282-4424-BC72-B75ABFCB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105400"/>
            <a:ext cx="295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27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Понятный разбор претензии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0E6623D-6FF6-4148-AAEF-77CAC6AD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4C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500F80B-4368-423E-83E8-B5B83FB9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FC7D8"/>
                </a:solidFill>
                <a:latin typeface="Manrope"/>
                <a:ea typeface="Manrope"/>
                <a:cs typeface="Manrope"/>
              </a:defRPr>
            </a:pPr>
            <a:r>
              <a:rPr sz="750" b="0">
                <a:solidFill>
                  <a:srgbClr val="CFC7D8"/>
                </a:solidFill>
                <a:latin typeface="Manrope"/>
                <a:ea typeface="Manrope"/>
                <a:cs typeface="Manrope"/>
              </a:rPr>
              <a:t>Главное обещание публикуется только после тайной проверки и подтверждения процесса</a:t>
            </a:r>
          </a:p>
        </p:txBody>
      </p:sp>
      <p:sp>
        <p:nvSpPr>
          <p:cNvPr id="31" name="page-marker">
            <a:extLst xmlns:a="http://schemas.openxmlformats.org/drawingml/2006/main">
              <a:ext uri="{FF2B5EF4-FFF2-40B4-BE49-F238E27FC236}">
                <a16:creationId xmlns:a16="http://schemas.microsoft.com/office/drawing/2014/main" id="{7BD766FA-523A-48FF-A093-5FCCF984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471204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85689B1-2922-4005-B57E-B4372808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A"/>
          </a:solidFill>
          <a:ln xmlns:a="http://schemas.openxmlformats.org/drawingml/2006/main" w="0">
            <a:solidFill>
              <a:srgbClr val="F7F5FA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082E87A9-7BE1-47AD-8BC2-6025EEF6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666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3A3BF19C-AA03-4DDE-8F49-6E18F610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ПУТЬ КЛИЕНТА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9CD664-6477-4E1D-95C5-D5071EF9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30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Рост создаёт связный путь клиента — от поиска до повторного заказа.</a:t>
            </a:r>
          </a:p>
        </p:txBody>
      </p:sp>
      <p:sp>
        <p:nvSpPr>
          <p:cNvPr id="5" name="journey-line">
            <a:extLst xmlns:a="http://schemas.openxmlformats.org/drawingml/2006/main">
              <a:ext uri="{FF2B5EF4-FFF2-40B4-BE49-F238E27FC236}">
                <a16:creationId xmlns:a16="http://schemas.microsoft.com/office/drawing/2014/main" id="{BAB7FFBC-07DB-4E7C-BC8B-8A7E20AC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986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journey-0-circle">
            <a:extLst xmlns:a="http://schemas.openxmlformats.org/drawingml/2006/main">
              <a:ext uri="{FF2B5EF4-FFF2-40B4-BE49-F238E27FC236}">
                <a16:creationId xmlns:a16="http://schemas.microsoft.com/office/drawing/2014/main" id="{E88B13DE-AFBE-4E50-AF7A-4B45C80C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journey-0-label">
            <a:extLst xmlns:a="http://schemas.openxmlformats.org/drawingml/2006/main">
              <a:ext uri="{FF2B5EF4-FFF2-40B4-BE49-F238E27FC236}">
                <a16:creationId xmlns:a16="http://schemas.microsoft.com/office/drawing/2014/main" id="{4EE40614-C71E-47B5-9389-3D3A6BAD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8" name="journey-0-title">
            <a:extLst xmlns:a="http://schemas.openxmlformats.org/drawingml/2006/main">
              <a:ext uri="{FF2B5EF4-FFF2-40B4-BE49-F238E27FC236}">
                <a16:creationId xmlns:a16="http://schemas.microsoft.com/office/drawing/2014/main" id="{87879B4C-9216-4700-9F03-9AFBE854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Увидел</a:t>
            </a:r>
          </a:p>
        </p:txBody>
      </p:sp>
      <p:sp>
        <p:nvSpPr>
          <p:cNvPr id="9" name="journey-0-note">
            <a:extLst xmlns:a="http://schemas.openxmlformats.org/drawingml/2006/main">
              <a:ext uri="{FF2B5EF4-FFF2-40B4-BE49-F238E27FC236}">
                <a16:creationId xmlns:a16="http://schemas.microsoft.com/office/drawing/2014/main" id="{A5D099F7-3CD1-4948-9538-EAEEF0CE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144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поиск и карты</a:t>
            </a:r>
          </a:p>
        </p:txBody>
      </p:sp>
      <p:sp>
        <p:nvSpPr>
          <p:cNvPr id="10" name="journey-1-circle">
            <a:extLst xmlns:a="http://schemas.openxmlformats.org/drawingml/2006/main">
              <a:ext uri="{FF2B5EF4-FFF2-40B4-BE49-F238E27FC236}">
                <a16:creationId xmlns:a16="http://schemas.microsoft.com/office/drawing/2014/main" id="{95C3A927-62D1-41BB-8211-BD8F112B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33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journey-1-label">
            <a:extLst xmlns:a="http://schemas.openxmlformats.org/drawingml/2006/main">
              <a:ext uri="{FF2B5EF4-FFF2-40B4-BE49-F238E27FC236}">
                <a16:creationId xmlns:a16="http://schemas.microsoft.com/office/drawing/2014/main" id="{4EFBB46E-8FDF-41F8-95FF-71954313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24175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2" name="journey-1-title">
            <a:extLst xmlns:a="http://schemas.openxmlformats.org/drawingml/2006/main">
              <a:ext uri="{FF2B5EF4-FFF2-40B4-BE49-F238E27FC236}">
                <a16:creationId xmlns:a16="http://schemas.microsoft.com/office/drawing/2014/main" id="{26930647-FD58-48D3-8AE1-1570E86C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6385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Поверил</a:t>
            </a:r>
          </a:p>
        </p:txBody>
      </p:sp>
      <p:sp>
        <p:nvSpPr>
          <p:cNvPr id="13" name="journey-1-note">
            <a:extLst xmlns:a="http://schemas.openxmlformats.org/drawingml/2006/main">
              <a:ext uri="{FF2B5EF4-FFF2-40B4-BE49-F238E27FC236}">
                <a16:creationId xmlns:a16="http://schemas.microsoft.com/office/drawing/2014/main" id="{B41EC656-44B7-412B-AE19-90E7A15F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81450"/>
            <a:ext cx="144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цена и похожая вещь</a:t>
            </a:r>
          </a:p>
        </p:txBody>
      </p:sp>
      <p:sp>
        <p:nvSpPr>
          <p:cNvPr id="14" name="journey-2-circle">
            <a:extLst xmlns:a="http://schemas.openxmlformats.org/drawingml/2006/main">
              <a:ext uri="{FF2B5EF4-FFF2-40B4-BE49-F238E27FC236}">
                <a16:creationId xmlns:a16="http://schemas.microsoft.com/office/drawing/2014/main" id="{80696F3C-AAA3-4DB2-8061-5FBF817D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journey-2-label">
            <a:extLst xmlns:a="http://schemas.openxmlformats.org/drawingml/2006/main">
              <a:ext uri="{FF2B5EF4-FFF2-40B4-BE49-F238E27FC236}">
                <a16:creationId xmlns:a16="http://schemas.microsoft.com/office/drawing/2014/main" id="{131206E0-23CB-4978-AB84-A355D913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24175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6" name="journey-2-title">
            <a:extLst xmlns:a="http://schemas.openxmlformats.org/drawingml/2006/main">
              <a:ext uri="{FF2B5EF4-FFF2-40B4-BE49-F238E27FC236}">
                <a16:creationId xmlns:a16="http://schemas.microsoft.com/office/drawing/2014/main" id="{3C8625D9-EA57-497D-9C60-EC9F088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385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Обратился</a:t>
            </a:r>
          </a:p>
        </p:txBody>
      </p:sp>
      <p:sp>
        <p:nvSpPr>
          <p:cNvPr id="17" name="journey-2-note">
            <a:extLst xmlns:a="http://schemas.openxmlformats.org/drawingml/2006/main">
              <a:ext uri="{FF2B5EF4-FFF2-40B4-BE49-F238E27FC236}">
                <a16:creationId xmlns:a16="http://schemas.microsoft.com/office/drawing/2014/main" id="{4BD09641-A0EF-41C9-878B-AE9B0A77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81450"/>
            <a:ext cx="144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звонок, фото, форма</a:t>
            </a:r>
          </a:p>
        </p:txBody>
      </p:sp>
      <p:sp>
        <p:nvSpPr>
          <p:cNvPr id="18" name="journey-3-circle">
            <a:extLst xmlns:a="http://schemas.openxmlformats.org/drawingml/2006/main">
              <a:ext uri="{FF2B5EF4-FFF2-40B4-BE49-F238E27FC236}">
                <a16:creationId xmlns:a16="http://schemas.microsoft.com/office/drawing/2014/main" id="{06E682ED-AD98-45D9-AD0B-DBDA6078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33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journey-3-label">
            <a:extLst xmlns:a="http://schemas.openxmlformats.org/drawingml/2006/main">
              <a:ext uri="{FF2B5EF4-FFF2-40B4-BE49-F238E27FC236}">
                <a16:creationId xmlns:a16="http://schemas.microsoft.com/office/drawing/2014/main" id="{4E739359-8ED0-4FD1-A34F-E3BE35DA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24175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20" name="journey-3-title">
            <a:extLst xmlns:a="http://schemas.openxmlformats.org/drawingml/2006/main">
              <a:ext uri="{FF2B5EF4-FFF2-40B4-BE49-F238E27FC236}">
                <a16:creationId xmlns:a16="http://schemas.microsoft.com/office/drawing/2014/main" id="{28B918DE-C9BC-47ED-BBE6-64AF6C44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385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Сдал</a:t>
            </a:r>
          </a:p>
        </p:txBody>
      </p:sp>
      <p:sp>
        <p:nvSpPr>
          <p:cNvPr id="21" name="journey-3-note">
            <a:extLst xmlns:a="http://schemas.openxmlformats.org/drawingml/2006/main">
              <a:ext uri="{FF2B5EF4-FFF2-40B4-BE49-F238E27FC236}">
                <a16:creationId xmlns:a16="http://schemas.microsoft.com/office/drawing/2014/main" id="{352BDB5A-A7B8-4524-BD82-2D42F8ED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81450"/>
            <a:ext cx="144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пункт или курьер</a:t>
            </a:r>
          </a:p>
        </p:txBody>
      </p:sp>
      <p:sp>
        <p:nvSpPr>
          <p:cNvPr id="22" name="journey-4-circle">
            <a:extLst xmlns:a="http://schemas.openxmlformats.org/drawingml/2006/main">
              <a:ext uri="{FF2B5EF4-FFF2-40B4-BE49-F238E27FC236}">
                <a16:creationId xmlns:a16="http://schemas.microsoft.com/office/drawing/2014/main" id="{64594E84-51D8-4C6E-B8E3-23DB7377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33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9E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journey-4-label">
            <a:extLst xmlns:a="http://schemas.openxmlformats.org/drawingml/2006/main">
              <a:ext uri="{FF2B5EF4-FFF2-40B4-BE49-F238E27FC236}">
                <a16:creationId xmlns:a16="http://schemas.microsoft.com/office/drawing/2014/main" id="{3DDDF27D-1122-45B6-9436-01A325C8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24175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24" name="journey-4-title">
            <a:extLst xmlns:a="http://schemas.openxmlformats.org/drawingml/2006/main">
              <a:ext uri="{FF2B5EF4-FFF2-40B4-BE49-F238E27FC236}">
                <a16:creationId xmlns:a16="http://schemas.microsoft.com/office/drawing/2014/main" id="{C447FD92-32A0-4EA6-8FE0-265453BA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385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Получил</a:t>
            </a:r>
          </a:p>
        </p:txBody>
      </p:sp>
      <p:sp>
        <p:nvSpPr>
          <p:cNvPr id="25" name="journey-4-note">
            <a:extLst xmlns:a="http://schemas.openxmlformats.org/drawingml/2006/main">
              <a:ext uri="{FF2B5EF4-FFF2-40B4-BE49-F238E27FC236}">
                <a16:creationId xmlns:a16="http://schemas.microsoft.com/office/drawing/2014/main" id="{933BF8A5-91F4-4CAB-9D66-734B0997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144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срок и результат</a:t>
            </a:r>
          </a:p>
        </p:txBody>
      </p:sp>
      <p:sp>
        <p:nvSpPr>
          <p:cNvPr id="26" name="journey-5-circle">
            <a:extLst xmlns:a="http://schemas.openxmlformats.org/drawingml/2006/main">
              <a:ext uri="{FF2B5EF4-FFF2-40B4-BE49-F238E27FC236}">
                <a16:creationId xmlns:a16="http://schemas.microsoft.com/office/drawing/2014/main" id="{300F17EF-AE54-4558-B3AF-C1666BA3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337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journey-5-label">
            <a:extLst xmlns:a="http://schemas.openxmlformats.org/drawingml/2006/main">
              <a:ext uri="{FF2B5EF4-FFF2-40B4-BE49-F238E27FC236}">
                <a16:creationId xmlns:a16="http://schemas.microsoft.com/office/drawing/2014/main" id="{B71EC410-BFA5-4871-8FBB-77E52C9A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924175"/>
            <a:ext cx="49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6</a:t>
            </a:r>
          </a:p>
        </p:txBody>
      </p:sp>
      <p:sp>
        <p:nvSpPr>
          <p:cNvPr id="28" name="journey-5-title">
            <a:extLst xmlns:a="http://schemas.openxmlformats.org/drawingml/2006/main">
              <a:ext uri="{FF2B5EF4-FFF2-40B4-BE49-F238E27FC236}">
                <a16:creationId xmlns:a16="http://schemas.microsoft.com/office/drawing/2014/main" id="{526FAB6A-7DB4-40BD-A054-34547DDE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6385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Вернулся</a:t>
            </a:r>
          </a:p>
        </p:txBody>
      </p:sp>
      <p:sp>
        <p:nvSpPr>
          <p:cNvPr id="29" name="journey-5-note">
            <a:extLst xmlns:a="http://schemas.openxmlformats.org/drawingml/2006/main">
              <a:ext uri="{FF2B5EF4-FFF2-40B4-BE49-F238E27FC236}">
                <a16:creationId xmlns:a16="http://schemas.microsoft.com/office/drawing/2014/main" id="{E3197E9C-228C-48A6-96F3-94F8FD3F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81450"/>
            <a:ext cx="1447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следующая вещь и отзыв</a:t>
            </a:r>
          </a:p>
        </p:txBody>
      </p:sp>
      <p:sp>
        <p:nvSpPr>
          <p:cNvPr id="30" name="loop-panel">
            <a:extLst xmlns:a="http://schemas.openxmlformats.org/drawingml/2006/main">
              <a:ext uri="{FF2B5EF4-FFF2-40B4-BE49-F238E27FC236}">
                <a16:creationId xmlns:a16="http://schemas.microsoft.com/office/drawing/2014/main" id="{0B6ACE5A-6F3B-4795-9C43-A37A56E1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31" name="loop-label">
            <a:extLst xmlns:a="http://schemas.openxmlformats.org/drawingml/2006/main">
              <a:ext uri="{FF2B5EF4-FFF2-40B4-BE49-F238E27FC236}">
                <a16:creationId xmlns:a16="http://schemas.microsoft.com/office/drawing/2014/main" id="{B858A8C2-4CFE-4C4C-BE29-1C119116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53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ПОВТОР И ОТЗЫВ</a:t>
            </a:r>
          </a:p>
        </p:txBody>
      </p:sp>
      <p:sp>
        <p:nvSpPr>
          <p:cNvPr id="32" name="loop-claim">
            <a:extLst xmlns:a="http://schemas.openxmlformats.org/drawingml/2006/main">
              <a:ext uri="{FF2B5EF4-FFF2-40B4-BE49-F238E27FC236}">
                <a16:creationId xmlns:a16="http://schemas.microsoft.com/office/drawing/2014/main" id="{FDBFBC2B-4B0E-4534-8D22-2A62E908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1970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снижают стоимость</a:t>
            </a:r>
          </a:p>
          <a:p xmlns:a="http://schemas.openxmlformats.org/drawingml/2006/main">
            <a:pPr algn="l">
              <a:defRPr sz="127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следующего заказа</a:t>
            </a:r>
          </a:p>
        </p:txBody>
      </p:sp>
      <p:sp>
        <p:nvSpPr>
          <p:cNvPr id="33" name="loop-return-bar">
            <a:extLst xmlns:a="http://schemas.openxmlformats.org/drawingml/2006/main">
              <a:ext uri="{FF2B5EF4-FFF2-40B4-BE49-F238E27FC236}">
                <a16:creationId xmlns:a16="http://schemas.microsoft.com/office/drawing/2014/main" id="{F3E7BC85-1E56-43B8-B7C1-1AC793F8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24450"/>
            <a:ext cx="11620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loop-return-label">
            <a:extLst xmlns:a="http://schemas.openxmlformats.org/drawingml/2006/main">
              <a:ext uri="{FF2B5EF4-FFF2-40B4-BE49-F238E27FC236}">
                <a16:creationId xmlns:a16="http://schemas.microsoft.com/office/drawing/2014/main" id="{E1C81C98-6864-494F-BB73-E90D418C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возвращает спрос</a:t>
            </a:r>
          </a:p>
        </p:txBody>
      </p:sp>
      <p:sp>
        <p:nvSpPr>
          <p:cNvPr id="35" name="loop-return-note">
            <a:extLst xmlns:a="http://schemas.openxmlformats.org/drawingml/2006/main">
              <a:ext uri="{FF2B5EF4-FFF2-40B4-BE49-F238E27FC236}">
                <a16:creationId xmlns:a16="http://schemas.microsoft.com/office/drawing/2014/main" id="{8CD02F15-DDBD-4176-8EC1-D7F89761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сезонное напоминание по категории вещи,</a:t>
            </a:r>
          </a:p>
          <a:p xmlns:a="http://schemas.openxmlformats.org/drawingml/2006/main">
            <a:pPr algn="l">
              <a:defRPr sz="97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а не общая рассылка</a:t>
            </a:r>
          </a:p>
        </p:txBody>
      </p:sp>
      <p:sp>
        <p:nvSpPr>
          <p:cNvPr id="3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41FA865-3A51-4DB0-A27E-E30C8FF9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36D4EBD-8031-4E7D-9DC5-8867B8AD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7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Измеряем не заявку, а принятый заказ → сумму → прибыль → повтор</a:t>
            </a:r>
          </a:p>
        </p:txBody>
      </p:sp>
      <p:sp>
        <p:nvSpPr>
          <p:cNvPr id="3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641DFAD6-1566-4BA3-99A5-AF729186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48898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822B452-CEB9-4A1F-BD91-6F498DBE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3B262FBE-5033-41F4-8E8C-05CD97C4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666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0B248FF0-7682-4A63-9A0C-1F2D4A2C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ПОРЯДОК РАЗБОРА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D1705C-CC3D-444B-A025-0B9BFD05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Стратегию разбираем в восьми решениях — бюджеты появляются только на седьмом.</a:t>
            </a:r>
          </a:p>
        </p:txBody>
      </p:sp>
      <p:sp>
        <p:nvSpPr>
          <p:cNvPr id="5" name="decision-0-panel">
            <a:extLst xmlns:a="http://schemas.openxmlformats.org/drawingml/2006/main">
              <a:ext uri="{FF2B5EF4-FFF2-40B4-BE49-F238E27FC236}">
                <a16:creationId xmlns:a16="http://schemas.microsoft.com/office/drawing/2014/main" id="{3DFAF67A-D29C-4C7E-8875-868F48D4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5FA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6" name="decision-0-circle">
            <a:extLst xmlns:a="http://schemas.openxmlformats.org/drawingml/2006/main">
              <a:ext uri="{FF2B5EF4-FFF2-40B4-BE49-F238E27FC236}">
                <a16:creationId xmlns:a16="http://schemas.microsoft.com/office/drawing/2014/main" id="{E706E4CF-9FD6-435B-B2A9-E6EF7FB9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decision-0-label">
            <a:extLst xmlns:a="http://schemas.openxmlformats.org/drawingml/2006/main">
              <a:ext uri="{FF2B5EF4-FFF2-40B4-BE49-F238E27FC236}">
                <a16:creationId xmlns:a16="http://schemas.microsoft.com/office/drawing/2014/main" id="{259B80DD-402D-49C7-9B0E-F8B6DB8D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8" name="decision-0-title">
            <a:extLst xmlns:a="http://schemas.openxmlformats.org/drawingml/2006/main">
              <a:ext uri="{FF2B5EF4-FFF2-40B4-BE49-F238E27FC236}">
                <a16:creationId xmlns:a16="http://schemas.microsoft.com/office/drawing/2014/main" id="{C4A688A3-8BBF-45E0-B989-AC3A9BAD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Внешняя картина</a:t>
            </a:r>
          </a:p>
        </p:txBody>
      </p:sp>
      <p:sp>
        <p:nvSpPr>
          <p:cNvPr id="9" name="decision-0-note">
            <a:extLst xmlns:a="http://schemas.openxmlformats.org/drawingml/2006/main">
              <a:ext uri="{FF2B5EF4-FFF2-40B4-BE49-F238E27FC236}">
                <a16:creationId xmlns:a16="http://schemas.microsoft.com/office/drawing/2014/main" id="{97CC4ACC-99E1-4547-AF8A-381E616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Факты и неизвестное</a:t>
            </a:r>
          </a:p>
        </p:txBody>
      </p:sp>
      <p:sp>
        <p:nvSpPr>
          <p:cNvPr id="10" name="decision-1-panel">
            <a:extLst xmlns:a="http://schemas.openxmlformats.org/drawingml/2006/main">
              <a:ext uri="{FF2B5EF4-FFF2-40B4-BE49-F238E27FC236}">
                <a16:creationId xmlns:a16="http://schemas.microsoft.com/office/drawing/2014/main" id="{D8760827-10E5-4F17-8356-DEB074AD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5265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5FA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11" name="decision-1-circle">
            <a:extLst xmlns:a="http://schemas.openxmlformats.org/drawingml/2006/main">
              <a:ext uri="{FF2B5EF4-FFF2-40B4-BE49-F238E27FC236}">
                <a16:creationId xmlns:a16="http://schemas.microsoft.com/office/drawing/2014/main" id="{04FA4106-32EA-4915-80E4-1A577092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decision-1-label">
            <a:extLst xmlns:a="http://schemas.openxmlformats.org/drawingml/2006/main">
              <a:ext uri="{FF2B5EF4-FFF2-40B4-BE49-F238E27FC236}">
                <a16:creationId xmlns:a16="http://schemas.microsoft.com/office/drawing/2014/main" id="{B0966449-58DC-4F60-B696-E5EF4B2C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14575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3" name="decision-1-title">
            <a:extLst xmlns:a="http://schemas.openxmlformats.org/drawingml/2006/main">
              <a:ext uri="{FF2B5EF4-FFF2-40B4-BE49-F238E27FC236}">
                <a16:creationId xmlns:a16="http://schemas.microsoft.com/office/drawing/2014/main" id="{DFE1DD76-40C5-4E43-BBA2-79FC6F96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Первое направление</a:t>
            </a:r>
          </a:p>
        </p:txBody>
      </p:sp>
      <p:sp>
        <p:nvSpPr>
          <p:cNvPr id="14" name="decision-1-note">
            <a:extLst xmlns:a="http://schemas.openxmlformats.org/drawingml/2006/main">
              <a:ext uri="{FF2B5EF4-FFF2-40B4-BE49-F238E27FC236}">
                <a16:creationId xmlns:a16="http://schemas.microsoft.com/office/drawing/2014/main" id="{92FFD8DE-B952-4ACF-8CED-7AE7AB71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Верхняя одежда</a:t>
            </a:r>
          </a:p>
        </p:txBody>
      </p:sp>
      <p:sp>
        <p:nvSpPr>
          <p:cNvPr id="15" name="decision-2-panel">
            <a:extLst xmlns:a="http://schemas.openxmlformats.org/drawingml/2006/main">
              <a:ext uri="{FF2B5EF4-FFF2-40B4-BE49-F238E27FC236}">
                <a16:creationId xmlns:a16="http://schemas.microsoft.com/office/drawing/2014/main" id="{5639D5C1-A944-48AC-BE4B-3E839AFB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5265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5FA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16" name="decision-2-circle">
            <a:extLst xmlns:a="http://schemas.openxmlformats.org/drawingml/2006/main">
              <a:ext uri="{FF2B5EF4-FFF2-40B4-BE49-F238E27FC236}">
                <a16:creationId xmlns:a16="http://schemas.microsoft.com/office/drawing/2014/main" id="{169AD463-9137-47BC-BD28-85898061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decision-2-label">
            <a:extLst xmlns:a="http://schemas.openxmlformats.org/drawingml/2006/main">
              <a:ext uri="{FF2B5EF4-FFF2-40B4-BE49-F238E27FC236}">
                <a16:creationId xmlns:a16="http://schemas.microsoft.com/office/drawing/2014/main" id="{719E4422-1AF8-46FD-8F12-38495BEB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14575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8" name="decision-2-title">
            <a:extLst xmlns:a="http://schemas.openxmlformats.org/drawingml/2006/main">
              <a:ext uri="{FF2B5EF4-FFF2-40B4-BE49-F238E27FC236}">
                <a16:creationId xmlns:a16="http://schemas.microsoft.com/office/drawing/2014/main" id="{36C4A7EA-7C39-422D-818A-69D1FC16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Группы клиентов</a:t>
            </a:r>
          </a:p>
        </p:txBody>
      </p:sp>
      <p:sp>
        <p:nvSpPr>
          <p:cNvPr id="19" name="decision-2-note">
            <a:extLst xmlns:a="http://schemas.openxmlformats.org/drawingml/2006/main">
              <a:ext uri="{FF2B5EF4-FFF2-40B4-BE49-F238E27FC236}">
                <a16:creationId xmlns:a16="http://schemas.microsoft.com/office/drawing/2014/main" id="{AD006C5D-5CF3-4291-93BF-ADC5DC663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Кто и в какой ситуации</a:t>
            </a:r>
          </a:p>
        </p:txBody>
      </p:sp>
      <p:sp>
        <p:nvSpPr>
          <p:cNvPr id="20" name="decision-3-panel">
            <a:extLst xmlns:a="http://schemas.openxmlformats.org/drawingml/2006/main">
              <a:ext uri="{FF2B5EF4-FFF2-40B4-BE49-F238E27FC236}">
                <a16:creationId xmlns:a16="http://schemas.microsoft.com/office/drawing/2014/main" id="{C78F49E3-9045-4869-A426-CC7129D8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5265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5FA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21" name="decision-3-circle">
            <a:extLst xmlns:a="http://schemas.openxmlformats.org/drawingml/2006/main">
              <a:ext uri="{FF2B5EF4-FFF2-40B4-BE49-F238E27FC236}">
                <a16:creationId xmlns:a16="http://schemas.microsoft.com/office/drawing/2014/main" id="{7EA47418-5B0C-4123-9AD2-021068AD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decision-3-label">
            <a:extLst xmlns:a="http://schemas.openxmlformats.org/drawingml/2006/main">
              <a:ext uri="{FF2B5EF4-FFF2-40B4-BE49-F238E27FC236}">
                <a16:creationId xmlns:a16="http://schemas.microsoft.com/office/drawing/2014/main" id="{D11A2C19-FFB6-464D-818E-1C64EABB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14575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23" name="decision-3-title">
            <a:extLst xmlns:a="http://schemas.openxmlformats.org/drawingml/2006/main">
              <a:ext uri="{FF2B5EF4-FFF2-40B4-BE49-F238E27FC236}">
                <a16:creationId xmlns:a16="http://schemas.microsoft.com/office/drawing/2014/main" id="{E8767232-7A0C-4671-A00B-E2D70EAB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Главное обещание</a:t>
            </a:r>
          </a:p>
        </p:txBody>
      </p:sp>
      <p:sp>
        <p:nvSpPr>
          <p:cNvPr id="24" name="decision-3-note">
            <a:extLst xmlns:a="http://schemas.openxmlformats.org/drawingml/2006/main">
              <a:ext uri="{FF2B5EF4-FFF2-40B4-BE49-F238E27FC236}">
                <a16:creationId xmlns:a16="http://schemas.microsoft.com/office/drawing/2014/main" id="{3E7D6208-88D6-4AEC-9EF1-4C3E4DF4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432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Что говорим и доказываем</a:t>
            </a:r>
          </a:p>
        </p:txBody>
      </p:sp>
      <p:sp>
        <p:nvSpPr>
          <p:cNvPr id="25" name="decision-4-panel">
            <a:extLst xmlns:a="http://schemas.openxmlformats.org/drawingml/2006/main">
              <a:ext uri="{FF2B5EF4-FFF2-40B4-BE49-F238E27FC236}">
                <a16:creationId xmlns:a16="http://schemas.microsoft.com/office/drawing/2014/main" id="{08701127-6B23-485F-887F-F06E440F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5FA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26" name="decision-4-circle">
            <a:extLst xmlns:a="http://schemas.openxmlformats.org/drawingml/2006/main">
              <a:ext uri="{FF2B5EF4-FFF2-40B4-BE49-F238E27FC236}">
                <a16:creationId xmlns:a16="http://schemas.microsoft.com/office/drawing/2014/main" id="{AE55B09C-59EC-4FB8-ACD3-8309C6D2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decision-4-label">
            <a:extLst xmlns:a="http://schemas.openxmlformats.org/drawingml/2006/main">
              <a:ext uri="{FF2B5EF4-FFF2-40B4-BE49-F238E27FC236}">
                <a16:creationId xmlns:a16="http://schemas.microsoft.com/office/drawing/2014/main" id="{6008CDB6-EF56-4751-89C3-D7050997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57675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28" name="decision-4-title">
            <a:extLst xmlns:a="http://schemas.openxmlformats.org/drawingml/2006/main">
              <a:ext uri="{FF2B5EF4-FFF2-40B4-BE49-F238E27FC236}">
                <a16:creationId xmlns:a16="http://schemas.microsoft.com/office/drawing/2014/main" id="{DF82F3AB-782E-4892-99AC-A36CD99F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Путь клиента</a:t>
            </a:r>
          </a:p>
        </p:txBody>
      </p:sp>
      <p:sp>
        <p:nvSpPr>
          <p:cNvPr id="29" name="decision-4-note">
            <a:extLst xmlns:a="http://schemas.openxmlformats.org/drawingml/2006/main">
              <a:ext uri="{FF2B5EF4-FFF2-40B4-BE49-F238E27FC236}">
                <a16:creationId xmlns:a16="http://schemas.microsoft.com/office/drawing/2014/main" id="{2F0B6BB7-0407-4AFD-B9C3-25397675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От поиска до выдачи</a:t>
            </a:r>
          </a:p>
        </p:txBody>
      </p:sp>
      <p:sp>
        <p:nvSpPr>
          <p:cNvPr id="30" name="decision-5-panel">
            <a:extLst xmlns:a="http://schemas.openxmlformats.org/drawingml/2006/main">
              <a:ext uri="{FF2B5EF4-FFF2-40B4-BE49-F238E27FC236}">
                <a16:creationId xmlns:a16="http://schemas.microsoft.com/office/drawing/2014/main" id="{7CEBDBE1-FDA8-48E9-91A5-A1E344BD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9575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8E5"/>
          </a:solidFill>
          <a:ln xmlns:a="http://schemas.openxmlformats.org/drawingml/2006/main" w="19050">
            <a:solidFill>
              <a:srgbClr val="FFBA24"/>
            </a:solidFill>
            <a:prstDash val="solid"/>
          </a:ln>
        </p:spPr>
      </p:sp>
      <p:sp>
        <p:nvSpPr>
          <p:cNvPr id="31" name="decision-5-circle">
            <a:extLst xmlns:a="http://schemas.openxmlformats.org/drawingml/2006/main">
              <a:ext uri="{FF2B5EF4-FFF2-40B4-BE49-F238E27FC236}">
                <a16:creationId xmlns:a16="http://schemas.microsoft.com/office/drawing/2014/main" id="{3FAFDCB8-7833-4193-85F7-742EDD71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67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decision-5-label">
            <a:extLst xmlns:a="http://schemas.openxmlformats.org/drawingml/2006/main">
              <a:ext uri="{FF2B5EF4-FFF2-40B4-BE49-F238E27FC236}">
                <a16:creationId xmlns:a16="http://schemas.microsoft.com/office/drawing/2014/main" id="{B4F3DEE9-49BF-4C13-9527-E289EF93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57675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6</a:t>
            </a:r>
          </a:p>
        </p:txBody>
      </p:sp>
      <p:sp>
        <p:nvSpPr>
          <p:cNvPr id="33" name="decision-5-title">
            <a:extLst xmlns:a="http://schemas.openxmlformats.org/drawingml/2006/main">
              <a:ext uri="{FF2B5EF4-FFF2-40B4-BE49-F238E27FC236}">
                <a16:creationId xmlns:a16="http://schemas.microsoft.com/office/drawing/2014/main" id="{4718B5D7-C8FD-42E0-918A-228E73A7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5 внутренних ответов</a:t>
            </a:r>
          </a:p>
        </p:txBody>
      </p:sp>
      <p:sp>
        <p:nvSpPr>
          <p:cNvPr id="34" name="decision-5-note">
            <a:extLst xmlns:a="http://schemas.openxmlformats.org/drawingml/2006/main">
              <a:ext uri="{FF2B5EF4-FFF2-40B4-BE49-F238E27FC236}">
                <a16:creationId xmlns:a16="http://schemas.microsoft.com/office/drawing/2014/main" id="{7CD94518-1541-40A5-B1AD-F3D921EE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863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Прибыль · мощность · срок · учёт · качество</a:t>
            </a:r>
          </a:p>
        </p:txBody>
      </p:sp>
      <p:sp>
        <p:nvSpPr>
          <p:cNvPr id="35" name="decision-6-panel">
            <a:extLst xmlns:a="http://schemas.openxmlformats.org/drawingml/2006/main">
              <a:ext uri="{FF2B5EF4-FFF2-40B4-BE49-F238E27FC236}">
                <a16:creationId xmlns:a16="http://schemas.microsoft.com/office/drawing/2014/main" id="{3D289A9D-2543-494E-BE17-E90FE879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F8E5"/>
          </a:solidFill>
          <a:ln xmlns:a="http://schemas.openxmlformats.org/drawingml/2006/main" w="19050">
            <a:solidFill>
              <a:srgbClr val="FFBA24"/>
            </a:solidFill>
            <a:prstDash val="solid"/>
          </a:ln>
        </p:spPr>
      </p:sp>
      <p:sp>
        <p:nvSpPr>
          <p:cNvPr id="36" name="decision-6-circle">
            <a:extLst xmlns:a="http://schemas.openxmlformats.org/drawingml/2006/main">
              <a:ext uri="{FF2B5EF4-FFF2-40B4-BE49-F238E27FC236}">
                <a16:creationId xmlns:a16="http://schemas.microsoft.com/office/drawing/2014/main" id="{6564C374-1F1C-4434-AEE6-844ECC31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decision-6-label">
            <a:extLst xmlns:a="http://schemas.openxmlformats.org/drawingml/2006/main">
              <a:ext uri="{FF2B5EF4-FFF2-40B4-BE49-F238E27FC236}">
                <a16:creationId xmlns:a16="http://schemas.microsoft.com/office/drawing/2014/main" id="{8013424A-0EEC-4465-8F04-48D2B78C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57675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7</a:t>
            </a:r>
          </a:p>
        </p:txBody>
      </p:sp>
      <p:sp>
        <p:nvSpPr>
          <p:cNvPr id="38" name="decision-6-title">
            <a:extLst xmlns:a="http://schemas.openxmlformats.org/drawingml/2006/main">
              <a:ext uri="{FF2B5EF4-FFF2-40B4-BE49-F238E27FC236}">
                <a16:creationId xmlns:a16="http://schemas.microsoft.com/office/drawing/2014/main" id="{DC7D47B3-A6F4-4FD5-9EB3-A922E320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Платные каналы</a:t>
            </a:r>
          </a:p>
        </p:txBody>
      </p:sp>
      <p:sp>
        <p:nvSpPr>
          <p:cNvPr id="39" name="decision-6-note">
            <a:extLst xmlns:a="http://schemas.openxmlformats.org/drawingml/2006/main">
              <a:ext uri="{FF2B5EF4-FFF2-40B4-BE49-F238E27FC236}">
                <a16:creationId xmlns:a16="http://schemas.microsoft.com/office/drawing/2014/main" id="{6EAF2AF2-B4E4-47AD-AC7A-1182626D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863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Очередь и условия остановки</a:t>
            </a:r>
          </a:p>
        </p:txBody>
      </p:sp>
      <p:sp>
        <p:nvSpPr>
          <p:cNvPr id="40" name="decision-7-panel">
            <a:extLst xmlns:a="http://schemas.openxmlformats.org/drawingml/2006/main">
              <a:ext uri="{FF2B5EF4-FFF2-40B4-BE49-F238E27FC236}">
                <a16:creationId xmlns:a16="http://schemas.microsoft.com/office/drawing/2014/main" id="{F5E510BC-87E0-48C4-B1AE-77B67CE8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3812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7F5FA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41" name="decision-7-circle">
            <a:extLst xmlns:a="http://schemas.openxmlformats.org/drawingml/2006/main">
              <a:ext uri="{FF2B5EF4-FFF2-40B4-BE49-F238E27FC236}">
                <a16:creationId xmlns:a16="http://schemas.microsoft.com/office/drawing/2014/main" id="{D9582269-7799-416A-9671-2AABF274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67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decision-7-label">
            <a:extLst xmlns:a="http://schemas.openxmlformats.org/drawingml/2006/main">
              <a:ext uri="{FF2B5EF4-FFF2-40B4-BE49-F238E27FC236}">
                <a16:creationId xmlns:a16="http://schemas.microsoft.com/office/drawing/2014/main" id="{A917C5AE-1572-4B64-A00C-CAD7BB79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57675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8</a:t>
            </a:r>
          </a:p>
        </p:txBody>
      </p:sp>
      <p:sp>
        <p:nvSpPr>
          <p:cNvPr id="43" name="decision-7-title">
            <a:extLst xmlns:a="http://schemas.openxmlformats.org/drawingml/2006/main">
              <a:ext uri="{FF2B5EF4-FFF2-40B4-BE49-F238E27FC236}">
                <a16:creationId xmlns:a16="http://schemas.microsoft.com/office/drawing/2014/main" id="{B0F86E54-58DD-4E61-B95F-49C6628B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43450"/>
            <a:ext cx="2000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План на 90 дней</a:t>
            </a:r>
          </a:p>
        </p:txBody>
      </p:sp>
      <p:sp>
        <p:nvSpPr>
          <p:cNvPr id="44" name="decision-7-note">
            <a:extLst xmlns:a="http://schemas.openxmlformats.org/drawingml/2006/main">
              <a:ext uri="{FF2B5EF4-FFF2-40B4-BE49-F238E27FC236}">
                <a16:creationId xmlns:a16="http://schemas.microsoft.com/office/drawing/2014/main" id="{66C6ED6E-AEB2-4BCD-8110-5873581F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863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Ответственные и задачи</a:t>
            </a:r>
          </a:p>
        </p:txBody>
      </p:sp>
      <p:sp>
        <p:nvSpPr>
          <p:cNvPr id="45" name="sequence-start">
            <a:extLst xmlns:a="http://schemas.openxmlformats.org/drawingml/2006/main">
              <a:ext uri="{FF2B5EF4-FFF2-40B4-BE49-F238E27FC236}">
                <a16:creationId xmlns:a16="http://schemas.microsoft.com/office/drawing/2014/main" id="{4122A13C-43E0-4C44-BFFB-4AD81758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СНАЧАЛА СМЫСЛ И ПУТЬ</a:t>
            </a:r>
          </a:p>
        </p:txBody>
      </p:sp>
      <p:sp>
        <p:nvSpPr>
          <p:cNvPr id="46" name="sequence-line">
            <a:extLst xmlns:a="http://schemas.openxmlformats.org/drawingml/2006/main">
              <a:ext uri="{FF2B5EF4-FFF2-40B4-BE49-F238E27FC236}">
                <a16:creationId xmlns:a16="http://schemas.microsoft.com/office/drawing/2014/main" id="{DC505945-0F64-4654-BFF4-D7047C16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076950"/>
            <a:ext cx="5334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sequence-end">
            <a:extLst xmlns:a="http://schemas.openxmlformats.org/drawingml/2006/main">
              <a:ext uri="{FF2B5EF4-FFF2-40B4-BE49-F238E27FC236}">
                <a16:creationId xmlns:a16="http://schemas.microsoft.com/office/drawing/2014/main" id="{CA199C11-26D1-4759-AC51-3C4D538F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00075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99000"/>
                </a:solidFill>
                <a:latin typeface="Manrope"/>
                <a:ea typeface="Manrope"/>
                <a:cs typeface="Manrope"/>
              </a:defRPr>
            </a:pPr>
            <a:r>
              <a:rPr sz="975" b="1">
                <a:solidFill>
                  <a:srgbClr val="D99000"/>
                </a:solidFill>
                <a:latin typeface="Manrope"/>
                <a:ea typeface="Manrope"/>
                <a:cs typeface="Manrope"/>
              </a:rPr>
              <a:t>ПОТОМ БЮДЖЕТ И МАСШТАБ</a:t>
            </a:r>
          </a:p>
        </p:txBody>
      </p:sp>
      <p:sp>
        <p:nvSpPr>
          <p:cNvPr id="4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2DB93A1-DDF9-411F-880E-9A168318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9CE94BB-41D2-4AB9-BED6-E55C93AF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7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Каждый следующий блок опирается на решение предыдущего</a:t>
            </a:r>
          </a:p>
        </p:txBody>
      </p:sp>
      <p:sp>
        <p:nvSpPr>
          <p:cNvPr id="50" name="page-marker">
            <a:extLst xmlns:a="http://schemas.openxmlformats.org/drawingml/2006/main">
              <a:ext uri="{FF2B5EF4-FFF2-40B4-BE49-F238E27FC236}">
                <a16:creationId xmlns:a16="http://schemas.microsoft.com/office/drawing/2014/main" id="{A980CAF1-ECA0-48B6-8347-CDD5FD6A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716303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0B9E53A4-1B3D-47C8-BE30-9D0C9389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A"/>
          </a:solidFill>
          <a:ln xmlns:a="http://schemas.openxmlformats.org/drawingml/2006/main" w="0">
            <a:solidFill>
              <a:srgbClr val="F7F5FA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A8EE1737-1145-4D25-83DF-86D5D4FA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666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7BE56F76-7B69-49EB-9BF6-E3ACB93E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ПОРЯДОК ЗАПУСКА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E8AF6C-3D08-4EAB-92AD-C74BAA9A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Платный охват расширяем в шесть этапов: карты — первыми, РСЯ — только после поиска.</a:t>
            </a:r>
          </a:p>
        </p:txBody>
      </p:sp>
      <p:sp>
        <p:nvSpPr>
          <p:cNvPr id="5" name="channel-0-block">
            <a:extLst xmlns:a="http://schemas.openxmlformats.org/drawingml/2006/main">
              <a:ext uri="{FF2B5EF4-FFF2-40B4-BE49-F238E27FC236}">
                <a16:creationId xmlns:a16="http://schemas.microsoft.com/office/drawing/2014/main" id="{963FD63F-27C1-4D6F-9428-811CA8BF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581150" cy="17145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2B223A"/>
          </a:solidFill>
          <a:ln xmlns:a="http://schemas.openxmlformats.org/drawingml/2006/main" w="9525">
            <a:solidFill>
              <a:srgbClr val="2B223A"/>
            </a:solidFill>
            <a:prstDash val="solid"/>
          </a:ln>
        </p:spPr>
      </p:sp>
      <p:sp>
        <p:nvSpPr>
          <p:cNvPr id="6" name="channel-0-circle">
            <a:extLst xmlns:a="http://schemas.openxmlformats.org/drawingml/2006/main">
              <a:ext uri="{FF2B5EF4-FFF2-40B4-BE49-F238E27FC236}">
                <a16:creationId xmlns:a16="http://schemas.microsoft.com/office/drawing/2014/main" id="{A47F7391-B2F0-4E58-926D-3164261C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channel-0-label">
            <a:extLst xmlns:a="http://schemas.openxmlformats.org/drawingml/2006/main">
              <a:ext uri="{FF2B5EF4-FFF2-40B4-BE49-F238E27FC236}">
                <a16:creationId xmlns:a16="http://schemas.microsoft.com/office/drawing/2014/main" id="{AD38D11B-02E4-4D33-8209-5C175800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8" name="channel-0-title">
            <a:extLst xmlns:a="http://schemas.openxmlformats.org/drawingml/2006/main">
              <a:ext uri="{FF2B5EF4-FFF2-40B4-BE49-F238E27FC236}">
                <a16:creationId xmlns:a16="http://schemas.microsoft.com/office/drawing/2014/main" id="{755AE499-49C6-4B14-83A3-2041C701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Карты и 2ГИС</a:t>
            </a:r>
          </a:p>
        </p:txBody>
      </p:sp>
      <p:sp>
        <p:nvSpPr>
          <p:cNvPr id="9" name="channel-0-job">
            <a:extLst xmlns:a="http://schemas.openxmlformats.org/drawingml/2006/main">
              <a:ext uri="{FF2B5EF4-FFF2-40B4-BE49-F238E27FC236}">
                <a16:creationId xmlns:a16="http://schemas.microsoft.com/office/drawing/2014/main" id="{9D500787-D31B-43D7-B915-9F15AAD6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D9D1E2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D9D1E2"/>
                </a:solidFill>
                <a:latin typeface="Manrope"/>
                <a:ea typeface="Manrope"/>
                <a:cs typeface="Manrope"/>
              </a:rPr>
              <a:t>Собрать спрос рядом с точками</a:t>
            </a:r>
          </a:p>
        </p:txBody>
      </p:sp>
      <p:sp>
        <p:nvSpPr>
          <p:cNvPr id="10" name="channel-0-rule">
            <a:extLst xmlns:a="http://schemas.openxmlformats.org/drawingml/2006/main">
              <a:ext uri="{FF2B5EF4-FFF2-40B4-BE49-F238E27FC236}">
                <a16:creationId xmlns:a16="http://schemas.microsoft.com/office/drawing/2014/main" id="{51E48A71-9FC5-46F7-8C61-8957B3DC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127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4C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channel-0-gate">
            <a:extLst xmlns:a="http://schemas.openxmlformats.org/drawingml/2006/main">
              <a:ext uri="{FF2B5EF4-FFF2-40B4-BE49-F238E27FC236}">
                <a16:creationId xmlns:a16="http://schemas.microsoft.com/office/drawing/2014/main" id="{8D0794B6-01C4-4D68-972A-6BDA9ADE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75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Единые карточки готовы</a:t>
            </a:r>
          </a:p>
        </p:txBody>
      </p:sp>
      <p:sp>
        <p:nvSpPr>
          <p:cNvPr id="12" name="channel-1-block">
            <a:extLst xmlns:a="http://schemas.openxmlformats.org/drawingml/2006/main">
              <a:ext uri="{FF2B5EF4-FFF2-40B4-BE49-F238E27FC236}">
                <a16:creationId xmlns:a16="http://schemas.microsoft.com/office/drawing/2014/main" id="{A50F9C72-EE80-4DBF-998C-83EE5E6D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14750"/>
            <a:ext cx="1581150" cy="19812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9525">
            <a:solidFill>
              <a:srgbClr val="FFBA24"/>
            </a:solidFill>
            <a:prstDash val="solid"/>
          </a:ln>
        </p:spPr>
      </p:sp>
      <p:sp>
        <p:nvSpPr>
          <p:cNvPr id="13" name="channel-1-circle">
            <a:extLst xmlns:a="http://schemas.openxmlformats.org/drawingml/2006/main">
              <a:ext uri="{FF2B5EF4-FFF2-40B4-BE49-F238E27FC236}">
                <a16:creationId xmlns:a16="http://schemas.microsoft.com/office/drawing/2014/main" id="{775C1551-D595-4F45-AEA6-2B223BEA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48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channel-1-label">
            <a:extLst xmlns:a="http://schemas.openxmlformats.org/drawingml/2006/main">
              <a:ext uri="{FF2B5EF4-FFF2-40B4-BE49-F238E27FC236}">
                <a16:creationId xmlns:a16="http://schemas.microsoft.com/office/drawing/2014/main" id="{6F02BFB1-E9FE-4D8C-8483-0EB14244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38575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5" name="channel-1-title">
            <a:extLst xmlns:a="http://schemas.openxmlformats.org/drawingml/2006/main">
              <a:ext uri="{FF2B5EF4-FFF2-40B4-BE49-F238E27FC236}">
                <a16:creationId xmlns:a16="http://schemas.microsoft.com/office/drawing/2014/main" id="{41E0F008-5389-44B6-A17C-FE7ACD64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481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Директ · поиск</a:t>
            </a:r>
          </a:p>
        </p:txBody>
      </p:sp>
      <p:sp>
        <p:nvSpPr>
          <p:cNvPr id="16" name="channel-1-job">
            <a:extLst xmlns:a="http://schemas.openxmlformats.org/drawingml/2006/main">
              <a:ext uri="{FF2B5EF4-FFF2-40B4-BE49-F238E27FC236}">
                <a16:creationId xmlns:a16="http://schemas.microsoft.com/office/drawing/2014/main" id="{E9D1DB88-0997-47E6-BC56-7EB99767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053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Поймать горячие запросы</a:t>
            </a:r>
          </a:p>
        </p:txBody>
      </p:sp>
      <p:sp>
        <p:nvSpPr>
          <p:cNvPr id="17" name="channel-1-rule">
            <a:extLst xmlns:a="http://schemas.openxmlformats.org/drawingml/2006/main">
              <a:ext uri="{FF2B5EF4-FFF2-40B4-BE49-F238E27FC236}">
                <a16:creationId xmlns:a16="http://schemas.microsoft.com/office/drawing/2014/main" id="{6952F249-112E-4AEB-9507-C13C27F1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181600"/>
            <a:ext cx="127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channel-1-gate">
            <a:extLst xmlns:a="http://schemas.openxmlformats.org/drawingml/2006/main">
              <a:ext uri="{FF2B5EF4-FFF2-40B4-BE49-F238E27FC236}">
                <a16:creationId xmlns:a16="http://schemas.microsoft.com/office/drawing/2014/main" id="{11778405-B557-42BE-8441-0CFC23EF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578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99000"/>
                </a:solidFill>
                <a:latin typeface="Manrope"/>
                <a:ea typeface="Manrope"/>
                <a:cs typeface="Manrope"/>
              </a:defRPr>
            </a:pPr>
            <a:r>
              <a:rPr sz="750" b="1">
                <a:solidFill>
                  <a:srgbClr val="D99000"/>
                </a:solidFill>
                <a:latin typeface="Manrope"/>
                <a:ea typeface="Manrope"/>
                <a:cs typeface="Manrope"/>
              </a:rPr>
              <a:t>Есть учёт до прибыли</a:t>
            </a:r>
          </a:p>
        </p:txBody>
      </p:sp>
      <p:sp>
        <p:nvSpPr>
          <p:cNvPr id="19" name="channel-2-block">
            <a:extLst xmlns:a="http://schemas.openxmlformats.org/drawingml/2006/main">
              <a:ext uri="{FF2B5EF4-FFF2-40B4-BE49-F238E27FC236}">
                <a16:creationId xmlns:a16="http://schemas.microsoft.com/office/drawing/2014/main" id="{9E80D5B7-B835-4274-962A-747A3DC6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48050"/>
            <a:ext cx="1581150" cy="22479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20" name="channel-2-circle">
            <a:extLst xmlns:a="http://schemas.openxmlformats.org/drawingml/2006/main">
              <a:ext uri="{FF2B5EF4-FFF2-40B4-BE49-F238E27FC236}">
                <a16:creationId xmlns:a16="http://schemas.microsoft.com/office/drawing/2014/main" id="{4A6C44A0-CCE5-4C13-8DAE-0B0DD78C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814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channel-2-label">
            <a:extLst xmlns:a="http://schemas.openxmlformats.org/drawingml/2006/main">
              <a:ext uri="{FF2B5EF4-FFF2-40B4-BE49-F238E27FC236}">
                <a16:creationId xmlns:a16="http://schemas.microsoft.com/office/drawing/2014/main" id="{5697A7A4-0051-477A-8F34-9FF71121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71875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22" name="channel-2-title">
            <a:extLst xmlns:a="http://schemas.openxmlformats.org/drawingml/2006/main">
              <a:ext uri="{FF2B5EF4-FFF2-40B4-BE49-F238E27FC236}">
                <a16:creationId xmlns:a16="http://schemas.microsoft.com/office/drawing/2014/main" id="{4D3C8B6B-3C6C-4D8D-B72A-00700865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814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Повторная реклама</a:t>
            </a:r>
          </a:p>
        </p:txBody>
      </p:sp>
      <p:sp>
        <p:nvSpPr>
          <p:cNvPr id="23" name="channel-2-job">
            <a:extLst xmlns:a="http://schemas.openxmlformats.org/drawingml/2006/main">
              <a:ext uri="{FF2B5EF4-FFF2-40B4-BE49-F238E27FC236}">
                <a16:creationId xmlns:a16="http://schemas.microsoft.com/office/drawing/2014/main" id="{FFDBD31C-6047-4BE4-A231-4D126CAB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4386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Вернуть посетителей сайта</a:t>
            </a:r>
          </a:p>
        </p:txBody>
      </p:sp>
      <p:sp>
        <p:nvSpPr>
          <p:cNvPr id="24" name="channel-2-rule">
            <a:extLst xmlns:a="http://schemas.openxmlformats.org/drawingml/2006/main">
              <a:ext uri="{FF2B5EF4-FFF2-40B4-BE49-F238E27FC236}">
                <a16:creationId xmlns:a16="http://schemas.microsoft.com/office/drawing/2014/main" id="{0A041C29-23D4-4F07-A2E8-1D1BB9E8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181600"/>
            <a:ext cx="127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channel-2-gate">
            <a:extLst xmlns:a="http://schemas.openxmlformats.org/drawingml/2006/main">
              <a:ext uri="{FF2B5EF4-FFF2-40B4-BE49-F238E27FC236}">
                <a16:creationId xmlns:a16="http://schemas.microsoft.com/office/drawing/2014/main" id="{0AF39C70-2728-4E43-8C27-D27615ED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578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99000"/>
                </a:solidFill>
                <a:latin typeface="Manrope"/>
                <a:ea typeface="Manrope"/>
                <a:cs typeface="Manrope"/>
              </a:defRPr>
            </a:pPr>
            <a:r>
              <a:rPr sz="750" b="1">
                <a:solidFill>
                  <a:srgbClr val="D99000"/>
                </a:solidFill>
                <a:latin typeface="Manrope"/>
                <a:ea typeface="Manrope"/>
                <a:cs typeface="Manrope"/>
              </a:rPr>
              <a:t>Собраны аудитории</a:t>
            </a:r>
          </a:p>
        </p:txBody>
      </p:sp>
      <p:sp>
        <p:nvSpPr>
          <p:cNvPr id="26" name="channel-3-block">
            <a:extLst xmlns:a="http://schemas.openxmlformats.org/drawingml/2006/main">
              <a:ext uri="{FF2B5EF4-FFF2-40B4-BE49-F238E27FC236}">
                <a16:creationId xmlns:a16="http://schemas.microsoft.com/office/drawing/2014/main" id="{D892658C-00EA-4532-A87F-B91F90CA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81350"/>
            <a:ext cx="1581150" cy="25146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27" name="channel-3-circle">
            <a:extLst xmlns:a="http://schemas.openxmlformats.org/drawingml/2006/main">
              <a:ext uri="{FF2B5EF4-FFF2-40B4-BE49-F238E27FC236}">
                <a16:creationId xmlns:a16="http://schemas.microsoft.com/office/drawing/2014/main" id="{61CFF091-7B8A-4C65-9935-F04726B1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14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channel-3-label">
            <a:extLst xmlns:a="http://schemas.openxmlformats.org/drawingml/2006/main">
              <a:ext uri="{FF2B5EF4-FFF2-40B4-BE49-F238E27FC236}">
                <a16:creationId xmlns:a16="http://schemas.microsoft.com/office/drawing/2014/main" id="{630F3EF0-8524-40CF-B58F-3EFB1449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29" name="channel-3-title">
            <a:extLst xmlns:a="http://schemas.openxmlformats.org/drawingml/2006/main">
              <a:ext uri="{FF2B5EF4-FFF2-40B4-BE49-F238E27FC236}">
                <a16:creationId xmlns:a16="http://schemas.microsoft.com/office/drawing/2014/main" id="{B0733E76-1AFE-48D7-BD3E-BE6C21F3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РСЯ</a:t>
            </a:r>
          </a:p>
        </p:txBody>
      </p:sp>
      <p:sp>
        <p:nvSpPr>
          <p:cNvPr id="30" name="channel-3-job">
            <a:extLst xmlns:a="http://schemas.openxmlformats.org/drawingml/2006/main">
              <a:ext uri="{FF2B5EF4-FFF2-40B4-BE49-F238E27FC236}">
                <a16:creationId xmlns:a16="http://schemas.microsoft.com/office/drawing/2014/main" id="{DF9813A7-83DE-45B4-8758-8F10E365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719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Расширить сезонный охват</a:t>
            </a:r>
          </a:p>
        </p:txBody>
      </p:sp>
      <p:sp>
        <p:nvSpPr>
          <p:cNvPr id="31" name="channel-3-rule">
            <a:extLst xmlns:a="http://schemas.openxmlformats.org/drawingml/2006/main">
              <a:ext uri="{FF2B5EF4-FFF2-40B4-BE49-F238E27FC236}">
                <a16:creationId xmlns:a16="http://schemas.microsoft.com/office/drawing/2014/main" id="{7FB5CE7F-4C7A-4A46-B6B0-7CD7068F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81600"/>
            <a:ext cx="127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channel-3-gate">
            <a:extLst xmlns:a="http://schemas.openxmlformats.org/drawingml/2006/main">
              <a:ext uri="{FF2B5EF4-FFF2-40B4-BE49-F238E27FC236}">
                <a16:creationId xmlns:a16="http://schemas.microsoft.com/office/drawing/2014/main" id="{CA57CE72-CFA3-4445-BBB6-E4D3927C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578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99000"/>
                </a:solidFill>
                <a:latin typeface="Manrope"/>
                <a:ea typeface="Manrope"/>
                <a:cs typeface="Manrope"/>
              </a:defRPr>
            </a:pPr>
            <a:r>
              <a:rPr sz="750" b="1">
                <a:solidFill>
                  <a:srgbClr val="D99000"/>
                </a:solidFill>
                <a:latin typeface="Manrope"/>
                <a:ea typeface="Manrope"/>
                <a:cs typeface="Manrope"/>
              </a:rPr>
              <a:t>Поиск уже окупается</a:t>
            </a:r>
          </a:p>
        </p:txBody>
      </p:sp>
      <p:sp>
        <p:nvSpPr>
          <p:cNvPr id="33" name="channel-4-block">
            <a:extLst xmlns:a="http://schemas.openxmlformats.org/drawingml/2006/main">
              <a:ext uri="{FF2B5EF4-FFF2-40B4-BE49-F238E27FC236}">
                <a16:creationId xmlns:a16="http://schemas.microsoft.com/office/drawing/2014/main" id="{0A4EC842-BED7-40E7-B59F-EAF16B29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1581150" cy="2781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34" name="channel-4-circle">
            <a:extLst xmlns:a="http://schemas.openxmlformats.org/drawingml/2006/main">
              <a:ext uri="{FF2B5EF4-FFF2-40B4-BE49-F238E27FC236}">
                <a16:creationId xmlns:a16="http://schemas.microsoft.com/office/drawing/2014/main" id="{5AA599A0-768D-4BF4-B749-2D787351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48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channel-4-label">
            <a:extLst xmlns:a="http://schemas.openxmlformats.org/drawingml/2006/main">
              <a:ext uri="{FF2B5EF4-FFF2-40B4-BE49-F238E27FC236}">
                <a16:creationId xmlns:a16="http://schemas.microsoft.com/office/drawing/2014/main" id="{B9EB7599-EA6F-4FB0-A6C3-A8FDFE9A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38475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36" name="channel-4-title">
            <a:extLst xmlns:a="http://schemas.openxmlformats.org/drawingml/2006/main">
              <a:ext uri="{FF2B5EF4-FFF2-40B4-BE49-F238E27FC236}">
                <a16:creationId xmlns:a16="http://schemas.microsoft.com/office/drawing/2014/main" id="{4B2B52D1-2C6B-4B80-AD45-A83C5AAC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480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VK и OK</a:t>
            </a:r>
          </a:p>
        </p:txBody>
      </p:sp>
      <p:sp>
        <p:nvSpPr>
          <p:cNvPr id="37" name="channel-4-job">
            <a:extLst xmlns:a="http://schemas.openxmlformats.org/drawingml/2006/main">
              <a:ext uri="{FF2B5EF4-FFF2-40B4-BE49-F238E27FC236}">
                <a16:creationId xmlns:a16="http://schemas.microsoft.com/office/drawing/2014/main" id="{913BC5A3-752C-4B5E-9D91-8A843AEC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052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Дать геоохват и примеры</a:t>
            </a:r>
          </a:p>
        </p:txBody>
      </p:sp>
      <p:sp>
        <p:nvSpPr>
          <p:cNvPr id="38" name="channel-4-rule">
            <a:extLst xmlns:a="http://schemas.openxmlformats.org/drawingml/2006/main">
              <a:ext uri="{FF2B5EF4-FFF2-40B4-BE49-F238E27FC236}">
                <a16:creationId xmlns:a16="http://schemas.microsoft.com/office/drawing/2014/main" id="{6D7EAD45-2D07-405F-9655-B9EDCE9E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81600"/>
            <a:ext cx="127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channel-4-gate">
            <a:extLst xmlns:a="http://schemas.openxmlformats.org/drawingml/2006/main">
              <a:ext uri="{FF2B5EF4-FFF2-40B4-BE49-F238E27FC236}">
                <a16:creationId xmlns:a16="http://schemas.microsoft.com/office/drawing/2014/main" id="{4D32A673-229B-4676-A30A-B303A16F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578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99000"/>
                </a:solidFill>
                <a:latin typeface="Manrope"/>
                <a:ea typeface="Manrope"/>
                <a:cs typeface="Manrope"/>
              </a:defRPr>
            </a:pPr>
            <a:r>
              <a:rPr sz="750" b="1">
                <a:solidFill>
                  <a:srgbClr val="D99000"/>
                </a:solidFill>
                <a:latin typeface="Manrope"/>
                <a:ea typeface="Manrope"/>
                <a:cs typeface="Manrope"/>
              </a:rPr>
              <a:t>Есть сильные ролики</a:t>
            </a:r>
          </a:p>
        </p:txBody>
      </p:sp>
      <p:sp>
        <p:nvSpPr>
          <p:cNvPr id="40" name="channel-5-block">
            <a:extLst xmlns:a="http://schemas.openxmlformats.org/drawingml/2006/main">
              <a:ext uri="{FF2B5EF4-FFF2-40B4-BE49-F238E27FC236}">
                <a16:creationId xmlns:a16="http://schemas.microsoft.com/office/drawing/2014/main" id="{4E816C97-FB5D-44BB-84DD-60C29A7A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47950"/>
            <a:ext cx="1581150" cy="30480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41" name="channel-5-circle">
            <a:extLst xmlns:a="http://schemas.openxmlformats.org/drawingml/2006/main">
              <a:ext uri="{FF2B5EF4-FFF2-40B4-BE49-F238E27FC236}">
                <a16:creationId xmlns:a16="http://schemas.microsoft.com/office/drawing/2014/main" id="{3BCD42D4-8EB7-4CD9-B4A7-21F96C6D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813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channel-5-label">
            <a:extLst xmlns:a="http://schemas.openxmlformats.org/drawingml/2006/main">
              <a:ext uri="{FF2B5EF4-FFF2-40B4-BE49-F238E27FC236}">
                <a16:creationId xmlns:a16="http://schemas.microsoft.com/office/drawing/2014/main" id="{026FDF53-70C7-408D-934D-053490E3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71775"/>
            <a:ext cx="30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6</a:t>
            </a:r>
          </a:p>
        </p:txBody>
      </p:sp>
      <p:sp>
        <p:nvSpPr>
          <p:cNvPr id="43" name="channel-5-title">
            <a:extLst xmlns:a="http://schemas.openxmlformats.org/drawingml/2006/main">
              <a:ext uri="{FF2B5EF4-FFF2-40B4-BE49-F238E27FC236}">
                <a16:creationId xmlns:a16="http://schemas.microsoft.com/office/drawing/2014/main" id="{82BD7E78-5D7D-4F50-8A1C-EC814CC9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813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Другие сервисы</a:t>
            </a:r>
          </a:p>
        </p:txBody>
      </p:sp>
      <p:sp>
        <p:nvSpPr>
          <p:cNvPr id="44" name="channel-5-job">
            <a:extLst xmlns:a="http://schemas.openxmlformats.org/drawingml/2006/main">
              <a:ext uri="{FF2B5EF4-FFF2-40B4-BE49-F238E27FC236}">
                <a16:creationId xmlns:a16="http://schemas.microsoft.com/office/drawing/2014/main" id="{FE84C8BE-66C3-427E-B3DC-2553771C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385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82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Тестировать остаточный спрос</a:t>
            </a:r>
          </a:p>
        </p:txBody>
      </p:sp>
      <p:sp>
        <p:nvSpPr>
          <p:cNvPr id="45" name="channel-5-rule">
            <a:extLst xmlns:a="http://schemas.openxmlformats.org/drawingml/2006/main">
              <a:ext uri="{FF2B5EF4-FFF2-40B4-BE49-F238E27FC236}">
                <a16:creationId xmlns:a16="http://schemas.microsoft.com/office/drawing/2014/main" id="{C06B5B22-ACA5-4761-AB2E-7ED79079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181600"/>
            <a:ext cx="127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channel-5-gate">
            <a:extLst xmlns:a="http://schemas.openxmlformats.org/drawingml/2006/main">
              <a:ext uri="{FF2B5EF4-FFF2-40B4-BE49-F238E27FC236}">
                <a16:creationId xmlns:a16="http://schemas.microsoft.com/office/drawing/2014/main" id="{B303F5B7-B8A9-4E85-83E3-AF729D59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2578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99000"/>
                </a:solidFill>
                <a:latin typeface="Manrope"/>
                <a:ea typeface="Manrope"/>
                <a:cs typeface="Manrope"/>
              </a:defRPr>
            </a:pPr>
            <a:r>
              <a:rPr sz="750" b="1">
                <a:solidFill>
                  <a:srgbClr val="D99000"/>
                </a:solidFill>
                <a:latin typeface="Manrope"/>
                <a:ea typeface="Manrope"/>
                <a:cs typeface="Manrope"/>
              </a:rPr>
              <a:t>Основные каналы стабильны</a:t>
            </a:r>
          </a:p>
        </p:txBody>
      </p:sp>
      <p:sp>
        <p:nvSpPr>
          <p:cNvPr id="47" name="launch-rule">
            <a:extLst xmlns:a="http://schemas.openxmlformats.org/drawingml/2006/main">
              <a:ext uri="{FF2B5EF4-FFF2-40B4-BE49-F238E27FC236}">
                <a16:creationId xmlns:a16="http://schemas.microsoft.com/office/drawing/2014/main" id="{3F833044-8027-4469-A0BB-4782CC07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Не включаем следующий канал, пока предыдущий не даёт понятную экономику и стабильное качество обращения.</a:t>
            </a:r>
          </a:p>
        </p:txBody>
      </p:sp>
      <p:sp>
        <p:nvSpPr>
          <p:cNvPr id="4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0444411-ECA8-4215-AED4-553B5DC0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4CF7A16-C4EE-4AAA-9024-1783C5FC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7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Рекомендованная очередь тестов для UNISEC · B2C</a:t>
            </a:r>
          </a:p>
        </p:txBody>
      </p:sp>
      <p:sp>
        <p:nvSpPr>
          <p:cNvPr id="50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2C7C2CA-FA8B-4551-95CA-F0BB67F9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061066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9C7BAC1-B50F-4BD3-A81C-46160C06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D5988AEE-7D68-42C8-8EDB-37C81DE6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666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7A304F54-1D5F-448E-9532-364C1AE2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ЭТАПЫ 1–2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B5B3D1-C6B6-4845-97B9-02459187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Первые два канала закрывают разные задачи: карты приводят рядом, поиск ловит намерение.</a:t>
            </a:r>
          </a:p>
        </p:txBody>
      </p:sp>
      <p:sp>
        <p:nvSpPr>
          <p:cNvPr id="5" name="maps-panel">
            <a:extLst xmlns:a="http://schemas.openxmlformats.org/drawingml/2006/main">
              <a:ext uri="{FF2B5EF4-FFF2-40B4-BE49-F238E27FC236}">
                <a16:creationId xmlns:a16="http://schemas.microsoft.com/office/drawing/2014/main" id="{70C60BCF-F0CE-4CD1-814E-8E3C2E8A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maps-order-bg">
            <a:extLst xmlns:a="http://schemas.openxmlformats.org/drawingml/2006/main">
              <a:ext uri="{FF2B5EF4-FFF2-40B4-BE49-F238E27FC236}">
                <a16:creationId xmlns:a16="http://schemas.microsoft.com/office/drawing/2014/main" id="{4F263A56-8A86-4C60-9670-54EB5363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137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maps-order-text">
            <a:extLst xmlns:a="http://schemas.openxmlformats.org/drawingml/2006/main">
              <a:ext uri="{FF2B5EF4-FFF2-40B4-BE49-F238E27FC236}">
                <a16:creationId xmlns:a16="http://schemas.microsoft.com/office/drawing/2014/main" id="{0C4A66BE-71D3-4377-937C-F9693308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01 · СНАЧАЛА</a:t>
            </a:r>
          </a:p>
        </p:txBody>
      </p:sp>
      <p:sp>
        <p:nvSpPr>
          <p:cNvPr id="8" name="maps-title">
            <a:extLst xmlns:a="http://schemas.openxmlformats.org/drawingml/2006/main">
              <a:ext uri="{FF2B5EF4-FFF2-40B4-BE49-F238E27FC236}">
                <a16:creationId xmlns:a16="http://schemas.microsoft.com/office/drawing/2014/main" id="{37A68F0B-930D-42B8-9BDC-749130D3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035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Яндекс Карты + 2ГИС</a:t>
            </a:r>
          </a:p>
        </p:txBody>
      </p:sp>
      <p:sp>
        <p:nvSpPr>
          <p:cNvPr id="9" name="maps-job">
            <a:extLst xmlns:a="http://schemas.openxmlformats.org/drawingml/2006/main">
              <a:ext uri="{FF2B5EF4-FFF2-40B4-BE49-F238E27FC236}">
                <a16:creationId xmlns:a16="http://schemas.microsoft.com/office/drawing/2014/main" id="{73361E6F-68FC-4765-970F-AC790672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9D1E2"/>
                </a:solidFill>
                <a:latin typeface="Manrope"/>
                <a:ea typeface="Manrope"/>
                <a:cs typeface="Manrope"/>
              </a:defRPr>
            </a:pPr>
            <a:r>
              <a:rPr sz="1425" b="0">
                <a:solidFill>
                  <a:srgbClr val="D9D1E2"/>
                </a:solidFill>
                <a:latin typeface="Manrope"/>
                <a:ea typeface="Manrope"/>
                <a:cs typeface="Manrope"/>
              </a:rPr>
              <a:t>Задача: забрать спрос в радиусе каждой работающей точки.</a:t>
            </a:r>
          </a:p>
        </p:txBody>
      </p:sp>
      <p:sp>
        <p:nvSpPr>
          <p:cNvPr id="10" name="maps-b1-dot">
            <a:extLst xmlns:a="http://schemas.openxmlformats.org/drawingml/2006/main">
              <a:ext uri="{FF2B5EF4-FFF2-40B4-BE49-F238E27FC236}">
                <a16:creationId xmlns:a16="http://schemas.microsoft.com/office/drawing/2014/main" id="{6D1A91F7-3422-46C5-B645-A97E6E37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maps-b1-text">
            <a:extLst xmlns:a="http://schemas.openxmlformats.org/drawingml/2006/main">
              <a:ext uri="{FF2B5EF4-FFF2-40B4-BE49-F238E27FC236}">
                <a16:creationId xmlns:a16="http://schemas.microsoft.com/office/drawing/2014/main" id="{7C1EDB8D-79FC-49B0-9416-DADFA7ED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413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Одинаковые услуги, цены, фото и способы связи</a:t>
            </a:r>
          </a:p>
        </p:txBody>
      </p:sp>
      <p:sp>
        <p:nvSpPr>
          <p:cNvPr id="12" name="maps-b2-dot">
            <a:extLst xmlns:a="http://schemas.openxmlformats.org/drawingml/2006/main">
              <a:ext uri="{FF2B5EF4-FFF2-40B4-BE49-F238E27FC236}">
                <a16:creationId xmlns:a16="http://schemas.microsoft.com/office/drawing/2014/main" id="{12C968B4-0264-4666-8C62-897EDDE5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91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maps-b2-text">
            <a:extLst xmlns:a="http://schemas.openxmlformats.org/drawingml/2006/main">
              <a:ext uri="{FF2B5EF4-FFF2-40B4-BE49-F238E27FC236}">
                <a16:creationId xmlns:a16="http://schemas.microsoft.com/office/drawing/2014/main" id="{CFB5F5A2-BB7F-4AE0-B14C-9AC65E8A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413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Отзывы и ответы — по каждой точке отдельно</a:t>
            </a:r>
          </a:p>
        </p:txBody>
      </p:sp>
      <p:sp>
        <p:nvSpPr>
          <p:cNvPr id="14" name="maps-b3-dot">
            <a:extLst xmlns:a="http://schemas.openxmlformats.org/drawingml/2006/main">
              <a:ext uri="{FF2B5EF4-FFF2-40B4-BE49-F238E27FC236}">
                <a16:creationId xmlns:a16="http://schemas.microsoft.com/office/drawing/2014/main" id="{8C8875A9-0168-432D-B853-AB0A92E4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05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maps-b3-text">
            <a:extLst xmlns:a="http://schemas.openxmlformats.org/drawingml/2006/main">
              <a:ext uri="{FF2B5EF4-FFF2-40B4-BE49-F238E27FC236}">
                <a16:creationId xmlns:a16="http://schemas.microsoft.com/office/drawing/2014/main" id="{694617DF-69E2-4792-A01C-FB3F14C9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29200"/>
            <a:ext cx="413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Считаем принятые заказы по точкам, не клики</a:t>
            </a:r>
          </a:p>
        </p:txBody>
      </p:sp>
      <p:sp>
        <p:nvSpPr>
          <p:cNvPr id="16" name="search-panel">
            <a:extLst xmlns:a="http://schemas.openxmlformats.org/drawingml/2006/main">
              <a:ext uri="{FF2B5EF4-FFF2-40B4-BE49-F238E27FC236}">
                <a16:creationId xmlns:a16="http://schemas.microsoft.com/office/drawing/2014/main" id="{01F32173-42FE-484F-887A-B034ACCA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8E5"/>
          </a:solidFill>
          <a:ln xmlns:a="http://schemas.openxmlformats.org/drawingml/2006/main" w="19050">
            <a:solidFill>
              <a:srgbClr val="FFBA24"/>
            </a:solidFill>
            <a:prstDash val="solid"/>
          </a:ln>
        </p:spPr>
      </p:sp>
      <p:sp>
        <p:nvSpPr>
          <p:cNvPr id="17" name="search-order-bg">
            <a:extLst xmlns:a="http://schemas.openxmlformats.org/drawingml/2006/main">
              <a:ext uri="{FF2B5EF4-FFF2-40B4-BE49-F238E27FC236}">
                <a16:creationId xmlns:a16="http://schemas.microsoft.com/office/drawing/2014/main" id="{47CBEE2A-2DCE-45B7-A280-89EE49EC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1371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earch-order-text">
            <a:extLst xmlns:a="http://schemas.openxmlformats.org/drawingml/2006/main">
              <a:ext uri="{FF2B5EF4-FFF2-40B4-BE49-F238E27FC236}">
                <a16:creationId xmlns:a16="http://schemas.microsoft.com/office/drawing/2014/main" id="{B4E7DBD7-AD06-4FB7-979C-97C84CA7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860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02 · ЗАТЕМ</a:t>
            </a:r>
          </a:p>
        </p:txBody>
      </p:sp>
      <p:sp>
        <p:nvSpPr>
          <p:cNvPr id="19" name="search-title">
            <a:extLst xmlns:a="http://schemas.openxmlformats.org/drawingml/2006/main">
              <a:ext uri="{FF2B5EF4-FFF2-40B4-BE49-F238E27FC236}">
                <a16:creationId xmlns:a16="http://schemas.microsoft.com/office/drawing/2014/main" id="{DEEB99EF-A4CF-4DF9-9BCE-1C1E47ED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286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17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Яндекс Директ · поиск</a:t>
            </a:r>
          </a:p>
        </p:txBody>
      </p:sp>
      <p:sp>
        <p:nvSpPr>
          <p:cNvPr id="20" name="search-job">
            <a:extLst xmlns:a="http://schemas.openxmlformats.org/drawingml/2006/main">
              <a:ext uri="{FF2B5EF4-FFF2-40B4-BE49-F238E27FC236}">
                <a16:creationId xmlns:a16="http://schemas.microsoft.com/office/drawing/2014/main" id="{9C72D3BC-4664-473B-ACA9-1E951243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438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42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Задача: ответить человеку, который уже ищет реставрацию вещи.</a:t>
            </a:r>
          </a:p>
        </p:txBody>
      </p:sp>
      <p:sp>
        <p:nvSpPr>
          <p:cNvPr id="21" name="search-b1-dot">
            <a:extLst xmlns:a="http://schemas.openxmlformats.org/drawingml/2006/main">
              <a:ext uri="{FF2B5EF4-FFF2-40B4-BE49-F238E27FC236}">
                <a16:creationId xmlns:a16="http://schemas.microsoft.com/office/drawing/2014/main" id="{025CA4E3-8E9E-4BC9-9C26-E6D1CE39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76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earch-b1-text">
            <a:extLst xmlns:a="http://schemas.openxmlformats.org/drawingml/2006/main">
              <a:ext uri="{FF2B5EF4-FFF2-40B4-BE49-F238E27FC236}">
                <a16:creationId xmlns:a16="http://schemas.microsoft.com/office/drawing/2014/main" id="{B605F2CD-295A-4DD8-9C64-24E365FE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00500"/>
            <a:ext cx="413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Брендовые запросы и запросы рядом с точкой</a:t>
            </a:r>
          </a:p>
        </p:txBody>
      </p:sp>
      <p:sp>
        <p:nvSpPr>
          <p:cNvPr id="23" name="search-b2-dot">
            <a:extLst xmlns:a="http://schemas.openxmlformats.org/drawingml/2006/main">
              <a:ext uri="{FF2B5EF4-FFF2-40B4-BE49-F238E27FC236}">
                <a16:creationId xmlns:a16="http://schemas.microsoft.com/office/drawing/2014/main" id="{24D3C2B7-B100-43A9-A09B-5C507F7F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91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earch-b2-text">
            <a:extLst xmlns:a="http://schemas.openxmlformats.org/drawingml/2006/main">
              <a:ext uri="{FF2B5EF4-FFF2-40B4-BE49-F238E27FC236}">
                <a16:creationId xmlns:a16="http://schemas.microsoft.com/office/drawing/2014/main" id="{3CEF07B1-2A73-4923-8A96-9AA96355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413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200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Куртки и пальто → затем обувь и сумки</a:t>
            </a:r>
          </a:p>
        </p:txBody>
      </p:sp>
      <p:sp>
        <p:nvSpPr>
          <p:cNvPr id="25" name="search-b3-dot">
            <a:extLst xmlns:a="http://schemas.openxmlformats.org/drawingml/2006/main">
              <a:ext uri="{FF2B5EF4-FFF2-40B4-BE49-F238E27FC236}">
                <a16:creationId xmlns:a16="http://schemas.microsoft.com/office/drawing/2014/main" id="{991DD905-4BB1-45F7-AD56-26F1E549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05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earch-b3-text">
            <a:extLst xmlns:a="http://schemas.openxmlformats.org/drawingml/2006/main">
              <a:ext uri="{FF2B5EF4-FFF2-40B4-BE49-F238E27FC236}">
                <a16:creationId xmlns:a16="http://schemas.microsoft.com/office/drawing/2014/main" id="{DF17C587-1972-4FD0-880F-4BA3B052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29200"/>
            <a:ext cx="4133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Порог решения: 30–50 подходящих обращений</a:t>
            </a:r>
          </a:p>
        </p:txBody>
      </p:sp>
      <p:sp>
        <p:nvSpPr>
          <p:cNvPr id="27" name="stop-rule">
            <a:extLst xmlns:a="http://schemas.openxmlformats.org/drawingml/2006/main">
              <a:ext uri="{FF2B5EF4-FFF2-40B4-BE49-F238E27FC236}">
                <a16:creationId xmlns:a16="http://schemas.microsoft.com/office/drawing/2014/main" id="{0DAD767C-F907-4589-9F72-AFE2B279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4B4B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D94B4B"/>
                </a:solidFill>
                <a:latin typeface="Manrope"/>
                <a:ea typeface="Manrope"/>
                <a:cs typeface="Manrope"/>
              </a:rPr>
              <a:t>Общее правило остановки: если обращение нельзя связать с принятой вещью, суммой и прибылью — масштабировать рано.</a:t>
            </a:r>
          </a:p>
        </p:txBody>
      </p:sp>
      <p:sp>
        <p:nvSpPr>
          <p:cNvPr id="2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8A443ED-C565-4301-9D50-252678C4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53AB17CA-7014-4D99-B44B-B4D39D82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7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Сценарий ограниченного запуска платного спроса</a:t>
            </a:r>
          </a:p>
        </p:txBody>
      </p:sp>
      <p:sp>
        <p:nvSpPr>
          <p:cNvPr id="30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1E6F395-369A-4777-B958-FD7618D1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252357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C2775CE-6E52-4B53-8781-D96D1683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A"/>
          </a:solidFill>
          <a:ln xmlns:a="http://schemas.openxmlformats.org/drawingml/2006/main" w="0">
            <a:solidFill>
              <a:srgbClr val="F7F5FA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D58D3221-9D9D-4948-B62A-90992B2A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666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393E6469-8E5A-444C-AC94-26AB3BB7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ЭТАПЫ 3–5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EE03A7-FD56-4DA6-83C2-6B29E7BA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92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Широкий охват включаем слоями — только после доказанного предложения на поиске.</a:t>
            </a:r>
          </a:p>
        </p:txBody>
      </p:sp>
      <p:sp>
        <p:nvSpPr>
          <p:cNvPr id="5" name="band-0">
            <a:extLst xmlns:a="http://schemas.openxmlformats.org/drawingml/2006/main">
              <a:ext uri="{FF2B5EF4-FFF2-40B4-BE49-F238E27FC236}">
                <a16:creationId xmlns:a16="http://schemas.microsoft.com/office/drawing/2014/main" id="{7C8A27F3-4699-4D2B-9F32-95D369EE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9982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B223A"/>
          </a:solidFill>
          <a:ln xmlns:a="http://schemas.openxmlformats.org/drawingml/2006/main" w="9525">
            <a:solidFill>
              <a:srgbClr val="2B223A"/>
            </a:solidFill>
            <a:prstDash val="solid"/>
          </a:ln>
        </p:spPr>
      </p:sp>
      <p:sp>
        <p:nvSpPr>
          <p:cNvPr id="6" name="band-0-num">
            <a:extLst xmlns:a="http://schemas.openxmlformats.org/drawingml/2006/main">
              <a:ext uri="{FF2B5EF4-FFF2-40B4-BE49-F238E27FC236}">
                <a16:creationId xmlns:a16="http://schemas.microsoft.com/office/drawing/2014/main" id="{41FBFB6D-994F-4A64-838E-FB499789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76475"/>
            <a:ext cx="590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7" name="band-0-title">
            <a:extLst xmlns:a="http://schemas.openxmlformats.org/drawingml/2006/main">
              <a:ext uri="{FF2B5EF4-FFF2-40B4-BE49-F238E27FC236}">
                <a16:creationId xmlns:a16="http://schemas.microsoft.com/office/drawing/2014/main" id="{353550A0-830D-46FB-99FB-305DE00A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25742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Повторная реклама</a:t>
            </a:r>
          </a:p>
        </p:txBody>
      </p:sp>
      <p:sp>
        <p:nvSpPr>
          <p:cNvPr id="8" name="band-0-note">
            <a:extLst xmlns:a="http://schemas.openxmlformats.org/drawingml/2006/main">
              <a:ext uri="{FF2B5EF4-FFF2-40B4-BE49-F238E27FC236}">
                <a16:creationId xmlns:a16="http://schemas.microsoft.com/office/drawing/2014/main" id="{56B619A4-1C7D-4947-8079-80641761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590800"/>
            <a:ext cx="550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D1E2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D9D1E2"/>
                </a:solidFill>
                <a:latin typeface="Manrope"/>
                <a:ea typeface="Manrope"/>
                <a:cs typeface="Manrope"/>
              </a:rPr>
              <a:t>Вернуть тех, кто уже был на сайте или взаимодействовал с карточками</a:t>
            </a:r>
          </a:p>
        </p:txBody>
      </p:sp>
      <p:sp>
        <p:nvSpPr>
          <p:cNvPr id="9" name="band-0-gate-bg">
            <a:extLst xmlns:a="http://schemas.openxmlformats.org/drawingml/2006/main">
              <a:ext uri="{FF2B5EF4-FFF2-40B4-BE49-F238E27FC236}">
                <a16:creationId xmlns:a16="http://schemas.microsoft.com/office/drawing/2014/main" id="{6F9E7BD8-5E38-45A9-B321-8674E76C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1935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84C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band-0-gate-text">
            <a:extLst xmlns:a="http://schemas.openxmlformats.org/drawingml/2006/main">
              <a:ext uri="{FF2B5EF4-FFF2-40B4-BE49-F238E27FC236}">
                <a16:creationId xmlns:a16="http://schemas.microsoft.com/office/drawing/2014/main" id="{D5D091D8-11E0-43B8-898D-EA487CEF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193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СТАРТ: СОБРАНЫ АУДИТОРИИ</a:t>
            </a:r>
          </a:p>
        </p:txBody>
      </p:sp>
      <p:sp>
        <p:nvSpPr>
          <p:cNvPr id="11" name="band-1">
            <a:extLst xmlns:a="http://schemas.openxmlformats.org/drawingml/2006/main">
              <a:ext uri="{FF2B5EF4-FFF2-40B4-BE49-F238E27FC236}">
                <a16:creationId xmlns:a16="http://schemas.microsoft.com/office/drawing/2014/main" id="{BF717B37-D5E0-4C2C-8C0A-35971518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90297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9525">
            <a:solidFill>
              <a:srgbClr val="FFBA24"/>
            </a:solidFill>
            <a:prstDash val="solid"/>
          </a:ln>
        </p:spPr>
      </p:sp>
      <p:sp>
        <p:nvSpPr>
          <p:cNvPr id="12" name="band-1-num">
            <a:extLst xmlns:a="http://schemas.openxmlformats.org/drawingml/2006/main">
              <a:ext uri="{FF2B5EF4-FFF2-40B4-BE49-F238E27FC236}">
                <a16:creationId xmlns:a16="http://schemas.microsoft.com/office/drawing/2014/main" id="{A461F28D-3C49-4116-9146-83F9EF79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590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13" name="band-1-title">
            <a:extLst xmlns:a="http://schemas.openxmlformats.org/drawingml/2006/main">
              <a:ext uri="{FF2B5EF4-FFF2-40B4-BE49-F238E27FC236}">
                <a16:creationId xmlns:a16="http://schemas.microsoft.com/office/drawing/2014/main" id="{BC0B8DFF-DD4C-4E15-B772-680AF59D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5757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РСЯ</a:t>
            </a:r>
          </a:p>
        </p:txBody>
      </p:sp>
      <p:sp>
        <p:nvSpPr>
          <p:cNvPr id="14" name="band-1-note">
            <a:extLst xmlns:a="http://schemas.openxmlformats.org/drawingml/2006/main">
              <a:ext uri="{FF2B5EF4-FFF2-40B4-BE49-F238E27FC236}">
                <a16:creationId xmlns:a16="http://schemas.microsoft.com/office/drawing/2014/main" id="{1BB1C3FE-624E-4B89-BEF3-E3FBFF25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90950"/>
            <a:ext cx="4552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Показать сезонное предложение семьям и владельцам дорогих вещей</a:t>
            </a:r>
          </a:p>
        </p:txBody>
      </p:sp>
      <p:sp>
        <p:nvSpPr>
          <p:cNvPr id="15" name="band-1-gate-bg">
            <a:extLst xmlns:a="http://schemas.openxmlformats.org/drawingml/2006/main">
              <a:ext uri="{FF2B5EF4-FFF2-40B4-BE49-F238E27FC236}">
                <a16:creationId xmlns:a16="http://schemas.microsoft.com/office/drawing/2014/main" id="{DFD84487-546E-421D-9AC5-F62494C9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1950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band-1-gate-text">
            <a:extLst xmlns:a="http://schemas.openxmlformats.org/drawingml/2006/main">
              <a:ext uri="{FF2B5EF4-FFF2-40B4-BE49-F238E27FC236}">
                <a16:creationId xmlns:a16="http://schemas.microsoft.com/office/drawing/2014/main" id="{30057271-396C-408D-88FB-DDC77FFA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1950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СТАРТ: ПОИСК ОКУПАЕТСЯ</a:t>
            </a:r>
          </a:p>
        </p:txBody>
      </p:sp>
      <p:sp>
        <p:nvSpPr>
          <p:cNvPr id="17" name="band-2">
            <a:extLst xmlns:a="http://schemas.openxmlformats.org/drawingml/2006/main">
              <a:ext uri="{FF2B5EF4-FFF2-40B4-BE49-F238E27FC236}">
                <a16:creationId xmlns:a16="http://schemas.microsoft.com/office/drawing/2014/main" id="{8A44B4B4-EAFB-419B-835B-8F084D8B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95800"/>
            <a:ext cx="80772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18" name="band-2-num">
            <a:extLst xmlns:a="http://schemas.openxmlformats.org/drawingml/2006/main">
              <a:ext uri="{FF2B5EF4-FFF2-40B4-BE49-F238E27FC236}">
                <a16:creationId xmlns:a16="http://schemas.microsoft.com/office/drawing/2014/main" id="{43D25ADF-4A81-4C00-83E5-B251322F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676775"/>
            <a:ext cx="590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25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19" name="band-2-title">
            <a:extLst xmlns:a="http://schemas.openxmlformats.org/drawingml/2006/main">
              <a:ext uri="{FF2B5EF4-FFF2-40B4-BE49-F238E27FC236}">
                <a16:creationId xmlns:a16="http://schemas.microsoft.com/office/drawing/2014/main" id="{BA32B377-0FB6-4B50-A27B-42729AD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57725"/>
            <a:ext cx="2781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VK и OK</a:t>
            </a:r>
          </a:p>
        </p:txBody>
      </p:sp>
      <p:sp>
        <p:nvSpPr>
          <p:cNvPr id="20" name="band-2-note">
            <a:extLst xmlns:a="http://schemas.openxmlformats.org/drawingml/2006/main">
              <a:ext uri="{FF2B5EF4-FFF2-40B4-BE49-F238E27FC236}">
                <a16:creationId xmlns:a16="http://schemas.microsoft.com/office/drawing/2014/main" id="{48680C24-17F8-49A6-9848-9EF809FD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91100"/>
            <a:ext cx="3600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75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Дать геоохват через короткие видео, примеры и понятные сюжеты</a:t>
            </a:r>
          </a:p>
        </p:txBody>
      </p:sp>
      <p:sp>
        <p:nvSpPr>
          <p:cNvPr id="21" name="band-2-gate-bg">
            <a:extLst xmlns:a="http://schemas.openxmlformats.org/drawingml/2006/main">
              <a:ext uri="{FF2B5EF4-FFF2-40B4-BE49-F238E27FC236}">
                <a16:creationId xmlns:a16="http://schemas.microsoft.com/office/drawing/2014/main" id="{4075EEEC-80EB-4C56-A120-FF25932E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9650"/>
            <a:ext cx="29146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8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band-2-gate-text">
            <a:extLst xmlns:a="http://schemas.openxmlformats.org/drawingml/2006/main">
              <a:ext uri="{FF2B5EF4-FFF2-40B4-BE49-F238E27FC236}">
                <a16:creationId xmlns:a16="http://schemas.microsoft.com/office/drawing/2014/main" id="{FCC547D4-3644-4BE4-B61C-19EE334C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8196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СТАРТ: ЕСТЬ СИЛЬНЫЕ МАТЕРИАЛЫ</a:t>
            </a:r>
          </a:p>
        </p:txBody>
      </p:sp>
      <p:sp>
        <p:nvSpPr>
          <p:cNvPr id="23" name="narrow-label">
            <a:extLst xmlns:a="http://schemas.openxmlformats.org/drawingml/2006/main">
              <a:ext uri="{FF2B5EF4-FFF2-40B4-BE49-F238E27FC236}">
                <a16:creationId xmlns:a16="http://schemas.microsoft.com/office/drawing/2014/main" id="{3DAE5A03-8CAD-4F81-A1C9-DC645139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288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УЗКО · ГОРЯЧО</a:t>
            </a:r>
          </a:p>
        </p:txBody>
      </p:sp>
      <p:sp>
        <p:nvSpPr>
          <p:cNvPr id="24" name="wide-label">
            <a:extLst xmlns:a="http://schemas.openxmlformats.org/drawingml/2006/main">
              <a:ext uri="{FF2B5EF4-FFF2-40B4-BE49-F238E27FC236}">
                <a16:creationId xmlns:a16="http://schemas.microsoft.com/office/drawing/2014/main" id="{51BA0D24-C6AE-4E60-B1DD-26F9A0B1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5816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ШИРЕ · ХОЛОДНЕЕ</a:t>
            </a:r>
          </a:p>
        </p:txBody>
      </p:sp>
      <p:sp>
        <p:nvSpPr>
          <p:cNvPr id="25" name="rsya-rule">
            <a:extLst xmlns:a="http://schemas.openxmlformats.org/drawingml/2006/main">
              <a:ext uri="{FF2B5EF4-FFF2-40B4-BE49-F238E27FC236}">
                <a16:creationId xmlns:a16="http://schemas.microsoft.com/office/drawing/2014/main" id="{71C3A873-5DC4-4629-9350-4BDE8DF9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67400"/>
            <a:ext cx="9029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РСЯ не должна быть первым экспериментом: она быстро создаёт объём, но хуже объясняет, какое обещание действительно продаёт.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3275E96-2EA5-44C3-9301-DF08D2E1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B6D8A5A-680C-4F61-A72B-C0BACD5E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7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Расширение аудитории после проверки горячего спроса</a:t>
            </a:r>
          </a:p>
        </p:txBody>
      </p:sp>
      <p:sp>
        <p:nvSpPr>
          <p:cNvPr id="28" name="page-marker">
            <a:extLst xmlns:a="http://schemas.openxmlformats.org/drawingml/2006/main">
              <a:ext uri="{FF2B5EF4-FFF2-40B4-BE49-F238E27FC236}">
                <a16:creationId xmlns:a16="http://schemas.microsoft.com/office/drawing/2014/main" id="{CBDC61A3-F866-43A8-AAB3-5B2CDE17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671977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12BA331-C3DD-413B-9A96-2FEF27AF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B"/>
          </a:solidFill>
          <a:ln xmlns:a="http://schemas.openxmlformats.org/drawingml/2006/main" w="0">
            <a:solidFill>
              <a:srgbClr val="11141B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4AD8AB27-65B7-4C07-A880-6D19F74EA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666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B2D08B24-E7B0-4C93-A4D3-87C3E29D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ЭКОНОМИКА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0243F7-AD57-4D8D-A497-478C9A1A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0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Дешёвое обращение ничего не значит, пока оно не стало прибыльным повторным заказом.</a:t>
            </a:r>
          </a:p>
        </p:txBody>
      </p:sp>
      <p:sp>
        <p:nvSpPr>
          <p:cNvPr id="5" name="economy-0">
            <a:extLst xmlns:a="http://schemas.openxmlformats.org/drawingml/2006/main">
              <a:ext uri="{FF2B5EF4-FFF2-40B4-BE49-F238E27FC236}">
                <a16:creationId xmlns:a16="http://schemas.microsoft.com/office/drawing/2014/main" id="{77381125-B432-46C4-BEE6-720BDDFA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5621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2B223A"/>
          </a:solidFill>
          <a:ln xmlns:a="http://schemas.openxmlformats.org/drawingml/2006/main" w="19050">
            <a:solidFill>
              <a:srgbClr val="584C69"/>
            </a:solidFill>
            <a:prstDash val="solid"/>
          </a:ln>
        </p:spPr>
      </p:sp>
      <p:sp>
        <p:nvSpPr>
          <p:cNvPr id="6" name="economy-0-num">
            <a:extLst xmlns:a="http://schemas.openxmlformats.org/drawingml/2006/main">
              <a:ext uri="{FF2B5EF4-FFF2-40B4-BE49-F238E27FC236}">
                <a16:creationId xmlns:a16="http://schemas.microsoft.com/office/drawing/2014/main" id="{9E246CA0-186D-4A5C-ADCF-1D81EE35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7" name="economy-0-title">
            <a:extLst xmlns:a="http://schemas.openxmlformats.org/drawingml/2006/main">
              <a:ext uri="{FF2B5EF4-FFF2-40B4-BE49-F238E27FC236}">
                <a16:creationId xmlns:a16="http://schemas.microsoft.com/office/drawing/2014/main" id="{85C244BB-8284-4464-AC07-4AAF6C37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1219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Платный канал</a:t>
            </a:r>
          </a:p>
        </p:txBody>
      </p:sp>
      <p:sp>
        <p:nvSpPr>
          <p:cNvPr id="8" name="economy-0-note">
            <a:extLst xmlns:a="http://schemas.openxmlformats.org/drawingml/2006/main">
              <a:ext uri="{FF2B5EF4-FFF2-40B4-BE49-F238E27FC236}">
                <a16:creationId xmlns:a16="http://schemas.microsoft.com/office/drawing/2014/main" id="{8BF7CD15-EAF4-4C16-8816-C6407579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FC7D8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CFC7D8"/>
                </a:solidFill>
                <a:latin typeface="Manrope"/>
                <a:ea typeface="Manrope"/>
                <a:cs typeface="Manrope"/>
              </a:rPr>
              <a:t>РАСХОД</a:t>
            </a:r>
          </a:p>
        </p:txBody>
      </p:sp>
      <p:sp>
        <p:nvSpPr>
          <p:cNvPr id="9" name="economy-0-connector">
            <a:extLst xmlns:a="http://schemas.openxmlformats.org/drawingml/2006/main">
              <a:ext uri="{FF2B5EF4-FFF2-40B4-BE49-F238E27FC236}">
                <a16:creationId xmlns:a16="http://schemas.microsoft.com/office/drawing/2014/main" id="{D5F63142-DDB2-459A-90B2-2CD4EF3B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43275"/>
            <a:ext cx="2095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economy-1">
            <a:extLst xmlns:a="http://schemas.openxmlformats.org/drawingml/2006/main">
              <a:ext uri="{FF2B5EF4-FFF2-40B4-BE49-F238E27FC236}">
                <a16:creationId xmlns:a16="http://schemas.microsoft.com/office/drawing/2014/main" id="{7B0CB2BF-AB97-40EC-81E8-0FA4E084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47950"/>
            <a:ext cx="15621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2B223A"/>
          </a:solidFill>
          <a:ln xmlns:a="http://schemas.openxmlformats.org/drawingml/2006/main" w="19050">
            <a:solidFill>
              <a:srgbClr val="584C69"/>
            </a:solidFill>
            <a:prstDash val="solid"/>
          </a:ln>
        </p:spPr>
      </p:sp>
      <p:sp>
        <p:nvSpPr>
          <p:cNvPr id="11" name="economy-1-num">
            <a:extLst xmlns:a="http://schemas.openxmlformats.org/drawingml/2006/main">
              <a:ext uri="{FF2B5EF4-FFF2-40B4-BE49-F238E27FC236}">
                <a16:creationId xmlns:a16="http://schemas.microsoft.com/office/drawing/2014/main" id="{9A524AAB-8889-45A0-8AB4-DF94517AE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3845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12" name="economy-1-title">
            <a:extLst xmlns:a="http://schemas.openxmlformats.org/drawingml/2006/main">
              <a:ext uri="{FF2B5EF4-FFF2-40B4-BE49-F238E27FC236}">
                <a16:creationId xmlns:a16="http://schemas.microsoft.com/office/drawing/2014/main" id="{0E752560-54C3-4B43-987B-C0228CA4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76600"/>
            <a:ext cx="1219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Подходящее обращение</a:t>
            </a:r>
          </a:p>
        </p:txBody>
      </p:sp>
      <p:sp>
        <p:nvSpPr>
          <p:cNvPr id="13" name="economy-1-note">
            <a:extLst xmlns:a="http://schemas.openxmlformats.org/drawingml/2006/main">
              <a:ext uri="{FF2B5EF4-FFF2-40B4-BE49-F238E27FC236}">
                <a16:creationId xmlns:a16="http://schemas.microsoft.com/office/drawing/2014/main" id="{FACCF36C-8DB2-41C7-AE4B-1484FB20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909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FC7D8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CFC7D8"/>
                </a:solidFill>
                <a:latin typeface="Manrope"/>
                <a:ea typeface="Manrope"/>
                <a:cs typeface="Manrope"/>
              </a:rPr>
              <a:t>ИНТЕРЕС</a:t>
            </a:r>
          </a:p>
        </p:txBody>
      </p:sp>
      <p:sp>
        <p:nvSpPr>
          <p:cNvPr id="14" name="economy-1-connector">
            <a:extLst xmlns:a="http://schemas.openxmlformats.org/drawingml/2006/main">
              <a:ext uri="{FF2B5EF4-FFF2-40B4-BE49-F238E27FC236}">
                <a16:creationId xmlns:a16="http://schemas.microsoft.com/office/drawing/2014/main" id="{258A49FD-023E-4C2D-BD80-948CB900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43275"/>
            <a:ext cx="2095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economy-2">
            <a:extLst xmlns:a="http://schemas.openxmlformats.org/drawingml/2006/main">
              <a:ext uri="{FF2B5EF4-FFF2-40B4-BE49-F238E27FC236}">
                <a16:creationId xmlns:a16="http://schemas.microsoft.com/office/drawing/2014/main" id="{08879E6E-C4FE-4686-8FD7-C0C3E4B1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47950"/>
            <a:ext cx="15621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19050">
            <a:solidFill>
              <a:srgbClr val="FFBA24"/>
            </a:solidFill>
            <a:prstDash val="solid"/>
          </a:ln>
        </p:spPr>
      </p:sp>
      <p:sp>
        <p:nvSpPr>
          <p:cNvPr id="16" name="economy-2-num">
            <a:extLst xmlns:a="http://schemas.openxmlformats.org/drawingml/2006/main">
              <a:ext uri="{FF2B5EF4-FFF2-40B4-BE49-F238E27FC236}">
                <a16:creationId xmlns:a16="http://schemas.microsoft.com/office/drawing/2014/main" id="{CCAE7B99-DC17-44E6-A2D6-C2E8C46A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3845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17" name="economy-2-title">
            <a:extLst xmlns:a="http://schemas.openxmlformats.org/drawingml/2006/main">
              <a:ext uri="{FF2B5EF4-FFF2-40B4-BE49-F238E27FC236}">
                <a16:creationId xmlns:a16="http://schemas.microsoft.com/office/drawing/2014/main" id="{E73A1937-CFA0-4428-A74D-9A5601F3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1219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Принятая вещь</a:t>
            </a:r>
          </a:p>
        </p:txBody>
      </p:sp>
      <p:sp>
        <p:nvSpPr>
          <p:cNvPr id="18" name="economy-2-note">
            <a:extLst xmlns:a="http://schemas.openxmlformats.org/drawingml/2006/main">
              <a:ext uri="{FF2B5EF4-FFF2-40B4-BE49-F238E27FC236}">
                <a16:creationId xmlns:a16="http://schemas.microsoft.com/office/drawing/2014/main" id="{E245ECD0-AFF4-47CB-A8C0-078CD54C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ЗАКАЗ</a:t>
            </a:r>
          </a:p>
        </p:txBody>
      </p:sp>
      <p:sp>
        <p:nvSpPr>
          <p:cNvPr id="19" name="economy-2-connector">
            <a:extLst xmlns:a="http://schemas.openxmlformats.org/drawingml/2006/main">
              <a:ext uri="{FF2B5EF4-FFF2-40B4-BE49-F238E27FC236}">
                <a16:creationId xmlns:a16="http://schemas.microsoft.com/office/drawing/2014/main" id="{67B342BE-40E4-4E34-BE39-6E48DA17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43275"/>
            <a:ext cx="2095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economy-3">
            <a:extLst xmlns:a="http://schemas.openxmlformats.org/drawingml/2006/main">
              <a:ext uri="{FF2B5EF4-FFF2-40B4-BE49-F238E27FC236}">
                <a16:creationId xmlns:a16="http://schemas.microsoft.com/office/drawing/2014/main" id="{4B3194A5-5BFA-46D5-AACE-1D3A0F1A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15621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2B223A"/>
          </a:solidFill>
          <a:ln xmlns:a="http://schemas.openxmlformats.org/drawingml/2006/main" w="19050">
            <a:solidFill>
              <a:srgbClr val="584C69"/>
            </a:solidFill>
            <a:prstDash val="solid"/>
          </a:ln>
        </p:spPr>
      </p:sp>
      <p:sp>
        <p:nvSpPr>
          <p:cNvPr id="21" name="economy-3-num">
            <a:extLst xmlns:a="http://schemas.openxmlformats.org/drawingml/2006/main">
              <a:ext uri="{FF2B5EF4-FFF2-40B4-BE49-F238E27FC236}">
                <a16:creationId xmlns:a16="http://schemas.microsoft.com/office/drawing/2014/main" id="{6AFA175C-BF70-43D0-91CB-06C612C0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2" name="economy-3-title">
            <a:extLst xmlns:a="http://schemas.openxmlformats.org/drawingml/2006/main">
              <a:ext uri="{FF2B5EF4-FFF2-40B4-BE49-F238E27FC236}">
                <a16:creationId xmlns:a16="http://schemas.microsoft.com/office/drawing/2014/main" id="{EAF0EE5E-5FCE-41AD-BBBB-529BD7D1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1219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Сумма заказа</a:t>
            </a:r>
          </a:p>
        </p:txBody>
      </p:sp>
      <p:sp>
        <p:nvSpPr>
          <p:cNvPr id="23" name="economy-3-note">
            <a:extLst xmlns:a="http://schemas.openxmlformats.org/drawingml/2006/main">
              <a:ext uri="{FF2B5EF4-FFF2-40B4-BE49-F238E27FC236}">
                <a16:creationId xmlns:a16="http://schemas.microsoft.com/office/drawing/2014/main" id="{19AFD657-26CA-4DD4-A062-95E24D48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FC7D8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CFC7D8"/>
                </a:solidFill>
                <a:latin typeface="Manrope"/>
                <a:ea typeface="Manrope"/>
                <a:cs typeface="Manrope"/>
              </a:rPr>
              <a:t>ВЫРУЧКА</a:t>
            </a:r>
          </a:p>
        </p:txBody>
      </p:sp>
      <p:sp>
        <p:nvSpPr>
          <p:cNvPr id="24" name="economy-3-connector">
            <a:extLst xmlns:a="http://schemas.openxmlformats.org/drawingml/2006/main">
              <a:ext uri="{FF2B5EF4-FFF2-40B4-BE49-F238E27FC236}">
                <a16:creationId xmlns:a16="http://schemas.microsoft.com/office/drawing/2014/main" id="{CFB3872C-CD1F-4AEA-968C-2C1FB602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43275"/>
            <a:ext cx="2095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economy-4">
            <a:extLst xmlns:a="http://schemas.openxmlformats.org/drawingml/2006/main">
              <a:ext uri="{FF2B5EF4-FFF2-40B4-BE49-F238E27FC236}">
                <a16:creationId xmlns:a16="http://schemas.microsoft.com/office/drawing/2014/main" id="{7AE9E075-0AAC-4112-ABDA-F00799149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47950"/>
            <a:ext cx="15621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19050">
            <a:solidFill>
              <a:srgbClr val="FFBA24"/>
            </a:solidFill>
            <a:prstDash val="solid"/>
          </a:ln>
        </p:spPr>
      </p:sp>
      <p:sp>
        <p:nvSpPr>
          <p:cNvPr id="26" name="economy-4-num">
            <a:extLst xmlns:a="http://schemas.openxmlformats.org/drawingml/2006/main">
              <a:ext uri="{FF2B5EF4-FFF2-40B4-BE49-F238E27FC236}">
                <a16:creationId xmlns:a16="http://schemas.microsoft.com/office/drawing/2014/main" id="{AFCE0C49-84E0-476A-8A27-A7204E26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3845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27" name="economy-4-title">
            <a:extLst xmlns:a="http://schemas.openxmlformats.org/drawingml/2006/main">
              <a:ext uri="{FF2B5EF4-FFF2-40B4-BE49-F238E27FC236}">
                <a16:creationId xmlns:a16="http://schemas.microsoft.com/office/drawing/2014/main" id="{3C561C48-D57D-47FE-A105-094AEC81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1219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Прибыль</a:t>
            </a:r>
          </a:p>
        </p:txBody>
      </p:sp>
      <p:sp>
        <p:nvSpPr>
          <p:cNvPr id="28" name="economy-4-note">
            <a:extLst xmlns:a="http://schemas.openxmlformats.org/drawingml/2006/main">
              <a:ext uri="{FF2B5EF4-FFF2-40B4-BE49-F238E27FC236}">
                <a16:creationId xmlns:a16="http://schemas.microsoft.com/office/drawing/2014/main" id="{B150BA47-2B15-4A8D-A965-9EA6F5AB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909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РЕЗУЛЬТАТ</a:t>
            </a:r>
          </a:p>
        </p:txBody>
      </p:sp>
      <p:sp>
        <p:nvSpPr>
          <p:cNvPr id="29" name="economy-4-connector">
            <a:extLst xmlns:a="http://schemas.openxmlformats.org/drawingml/2006/main">
              <a:ext uri="{FF2B5EF4-FFF2-40B4-BE49-F238E27FC236}">
                <a16:creationId xmlns:a16="http://schemas.microsoft.com/office/drawing/2014/main" id="{086A2813-6960-429D-B44A-9B1DEC89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43275"/>
            <a:ext cx="2095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economy-5">
            <a:extLst xmlns:a="http://schemas.openxmlformats.org/drawingml/2006/main">
              <a:ext uri="{FF2B5EF4-FFF2-40B4-BE49-F238E27FC236}">
                <a16:creationId xmlns:a16="http://schemas.microsoft.com/office/drawing/2014/main" id="{C82A0A5D-E5FB-48F8-9568-B51A8F83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47950"/>
            <a:ext cx="15621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2B223A"/>
          </a:solidFill>
          <a:ln xmlns:a="http://schemas.openxmlformats.org/drawingml/2006/main" w="19050">
            <a:solidFill>
              <a:srgbClr val="584C69"/>
            </a:solidFill>
            <a:prstDash val="solid"/>
          </a:ln>
        </p:spPr>
      </p:sp>
      <p:sp>
        <p:nvSpPr>
          <p:cNvPr id="31" name="economy-5-num">
            <a:extLst xmlns:a="http://schemas.openxmlformats.org/drawingml/2006/main">
              <a:ext uri="{FF2B5EF4-FFF2-40B4-BE49-F238E27FC236}">
                <a16:creationId xmlns:a16="http://schemas.microsoft.com/office/drawing/2014/main" id="{0F794A12-661E-4DA7-ADE2-F9247F44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38450"/>
            <a:ext cx="533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32" name="economy-5-title">
            <a:extLst xmlns:a="http://schemas.openxmlformats.org/drawingml/2006/main">
              <a:ext uri="{FF2B5EF4-FFF2-40B4-BE49-F238E27FC236}">
                <a16:creationId xmlns:a16="http://schemas.microsoft.com/office/drawing/2014/main" id="{8B9578DA-97E0-400C-9787-D130B2F8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76600"/>
            <a:ext cx="1219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Повтор</a:t>
            </a:r>
          </a:p>
        </p:txBody>
      </p:sp>
      <p:sp>
        <p:nvSpPr>
          <p:cNvPr id="33" name="economy-5-note">
            <a:extLst xmlns:a="http://schemas.openxmlformats.org/drawingml/2006/main">
              <a:ext uri="{FF2B5EF4-FFF2-40B4-BE49-F238E27FC236}">
                <a16:creationId xmlns:a16="http://schemas.microsoft.com/office/drawing/2014/main" id="{C6A0DF15-D482-4E76-A116-9947C7AF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9095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FC7D8"/>
                </a:solidFill>
                <a:latin typeface="Manrope"/>
                <a:ea typeface="Manrope"/>
                <a:cs typeface="Manrope"/>
              </a:defRPr>
            </a:pPr>
            <a:r>
              <a:rPr sz="825" b="1">
                <a:solidFill>
                  <a:srgbClr val="CFC7D8"/>
                </a:solidFill>
                <a:latin typeface="Manrope"/>
                <a:ea typeface="Manrope"/>
                <a:cs typeface="Manrope"/>
              </a:rPr>
              <a:t>РОСТ</a:t>
            </a:r>
          </a:p>
        </p:txBody>
      </p:sp>
      <p:sp>
        <p:nvSpPr>
          <p:cNvPr id="34" name="formula-panel">
            <a:extLst xmlns:a="http://schemas.openxmlformats.org/drawingml/2006/main">
              <a:ext uri="{FF2B5EF4-FFF2-40B4-BE49-F238E27FC236}">
                <a16:creationId xmlns:a16="http://schemas.microsoft.com/office/drawing/2014/main" id="{7FC5EE48-58D5-40C0-9061-82AB057D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29150"/>
            <a:ext cx="81915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ormula-profit">
            <a:extLst xmlns:a="http://schemas.openxmlformats.org/drawingml/2006/main">
              <a:ext uri="{FF2B5EF4-FFF2-40B4-BE49-F238E27FC236}">
                <a16:creationId xmlns:a16="http://schemas.microsoft.com/office/drawing/2014/main" id="{B39D9DE1-D0B9-484D-A8EA-64997FAA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89585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Прибыль с заказа</a:t>
            </a:r>
          </a:p>
        </p:txBody>
      </p:sp>
      <p:sp>
        <p:nvSpPr>
          <p:cNvPr id="36" name="formula-sign">
            <a:extLst xmlns:a="http://schemas.openxmlformats.org/drawingml/2006/main">
              <a:ext uri="{FF2B5EF4-FFF2-40B4-BE49-F238E27FC236}">
                <a16:creationId xmlns:a16="http://schemas.microsoft.com/office/drawing/2014/main" id="{17D5C656-6155-496B-9321-44A4C996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8155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36B00"/>
                </a:solidFill>
                <a:latin typeface="Manrope"/>
                <a:ea typeface="Manrope"/>
                <a:cs typeface="Manrope"/>
              </a:defRPr>
            </a:pPr>
            <a:r>
              <a:rPr sz="2850" b="1">
                <a:solidFill>
                  <a:srgbClr val="F36B00"/>
                </a:solidFill>
                <a:latin typeface="Manrope"/>
                <a:ea typeface="Manrope"/>
                <a:cs typeface="Manrope"/>
              </a:rPr>
              <a:t>&gt;</a:t>
            </a:r>
          </a:p>
        </p:txBody>
      </p:sp>
      <p:sp>
        <p:nvSpPr>
          <p:cNvPr id="37" name="formula-cost">
            <a:extLst xmlns:a="http://schemas.openxmlformats.org/drawingml/2006/main">
              <a:ext uri="{FF2B5EF4-FFF2-40B4-BE49-F238E27FC236}">
                <a16:creationId xmlns:a16="http://schemas.microsoft.com/office/drawing/2014/main" id="{C195A4A9-9BBF-4859-B985-EDE50953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95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8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Стоимость привлечения</a:t>
            </a:r>
          </a:p>
        </p:txBody>
      </p:sp>
      <p:sp>
        <p:nvSpPr>
          <p:cNvPr id="38" name="tracking-rule">
            <a:extLst xmlns:a="http://schemas.openxmlformats.org/drawingml/2006/main">
              <a:ext uri="{FF2B5EF4-FFF2-40B4-BE49-F238E27FC236}">
                <a16:creationId xmlns:a16="http://schemas.microsoft.com/office/drawing/2014/main" id="{56D9215E-9B8F-4F45-A54E-A5EF4C08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829300"/>
            <a:ext cx="8153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D1E2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D9D1E2"/>
                </a:solidFill>
                <a:latin typeface="Manrope"/>
                <a:ea typeface="Manrope"/>
                <a:cs typeface="Manrope"/>
              </a:rPr>
              <a:t>Счётчик рекламы должен продолжаться в учёте точки — иначе решение о масштабе будет вслепую.</a:t>
            </a:r>
          </a:p>
        </p:txBody>
      </p:sp>
      <p:sp>
        <p:nvSpPr>
          <p:cNvPr id="3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FA932F9-5C54-4347-AAB1-EDCBBF5B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4C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5097613-FD37-485B-84AB-F9F64C15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FC7D8"/>
                </a:solidFill>
                <a:latin typeface="Manrope"/>
                <a:ea typeface="Manrope"/>
                <a:cs typeface="Manrope"/>
              </a:defRPr>
            </a:pPr>
            <a:r>
              <a:rPr sz="750" b="0">
                <a:solidFill>
                  <a:srgbClr val="CFC7D8"/>
                </a:solidFill>
                <a:latin typeface="Manrope"/>
                <a:ea typeface="Manrope"/>
                <a:cs typeface="Manrope"/>
              </a:rPr>
              <a:t>Мост от рекламы к прибыли и повторной покупке</a:t>
            </a:r>
          </a:p>
        </p:txBody>
      </p:sp>
      <p:sp>
        <p:nvSpPr>
          <p:cNvPr id="41" name="page-marker">
            <a:extLst xmlns:a="http://schemas.openxmlformats.org/drawingml/2006/main">
              <a:ext uri="{FF2B5EF4-FFF2-40B4-BE49-F238E27FC236}">
                <a16:creationId xmlns:a16="http://schemas.microsoft.com/office/drawing/2014/main" id="{67A23679-B5D1-4262-A11F-078ADFC4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3709687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281134F-3F21-45CA-B2AB-2AB12659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kicker-main-marker">
            <a:extLst xmlns:a="http://schemas.openxmlformats.org/drawingml/2006/main">
              <a:ext uri="{FF2B5EF4-FFF2-40B4-BE49-F238E27FC236}">
                <a16:creationId xmlns:a16="http://schemas.microsoft.com/office/drawing/2014/main" id="{49821B76-C744-45A1-A1AB-69B7E5D3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"/>
            <a:ext cx="6667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in-label">
            <a:extLst xmlns:a="http://schemas.openxmlformats.org/drawingml/2006/main">
              <a:ext uri="{FF2B5EF4-FFF2-40B4-BE49-F238E27FC236}">
                <a16:creationId xmlns:a16="http://schemas.microsoft.com/office/drawing/2014/main" id="{6CC13DA6-8AE7-4D58-8BC0-0D76C5D8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ДОРОЖНАЯ КАРТА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5839EA-7BE3-4407-8F0D-C770F090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30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За 90 дней стратегия проходит четыре ворот — от фактов до решения о масштабе.</a:t>
            </a:r>
          </a:p>
        </p:txBody>
      </p:sp>
      <p:sp>
        <p:nvSpPr>
          <p:cNvPr id="5" name="roadmap-line">
            <a:extLst xmlns:a="http://schemas.openxmlformats.org/drawingml/2006/main">
              <a:ext uri="{FF2B5EF4-FFF2-40B4-BE49-F238E27FC236}">
                <a16:creationId xmlns:a16="http://schemas.microsoft.com/office/drawing/2014/main" id="{12520553-ACAB-4502-AFCB-928976FB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104013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phase-0">
            <a:extLst xmlns:a="http://schemas.openxmlformats.org/drawingml/2006/main">
              <a:ext uri="{FF2B5EF4-FFF2-40B4-BE49-F238E27FC236}">
                <a16:creationId xmlns:a16="http://schemas.microsoft.com/office/drawing/2014/main" id="{D8BF8157-9E62-4324-836A-8B9E7B9F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57450" cy="37147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2B223A"/>
          </a:solidFill>
          <a:ln xmlns:a="http://schemas.openxmlformats.org/drawingml/2006/main" w="9525">
            <a:solidFill>
              <a:srgbClr val="2B223A"/>
            </a:solidFill>
            <a:prstDash val="solid"/>
          </a:ln>
        </p:spPr>
      </p:sp>
      <p:sp>
        <p:nvSpPr>
          <p:cNvPr id="7" name="phase-0-days-bg">
            <a:extLst xmlns:a="http://schemas.openxmlformats.org/drawingml/2006/main">
              <a:ext uri="{FF2B5EF4-FFF2-40B4-BE49-F238E27FC236}">
                <a16:creationId xmlns:a16="http://schemas.microsoft.com/office/drawing/2014/main" id="{93753037-61DE-43F2-8E9F-52717E5E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phase-0-days-text">
            <a:extLst xmlns:a="http://schemas.openxmlformats.org/drawingml/2006/main">
              <a:ext uri="{FF2B5EF4-FFF2-40B4-BE49-F238E27FC236}">
                <a16:creationId xmlns:a16="http://schemas.microsoft.com/office/drawing/2014/main" id="{B13188B0-796A-40A3-AD4F-CA2240C1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980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ДНИ 1–14</a:t>
            </a:r>
          </a:p>
        </p:txBody>
      </p:sp>
      <p:sp>
        <p:nvSpPr>
          <p:cNvPr id="9" name="phase-0-title">
            <a:extLst xmlns:a="http://schemas.openxmlformats.org/drawingml/2006/main">
              <a:ext uri="{FF2B5EF4-FFF2-40B4-BE49-F238E27FC236}">
                <a16:creationId xmlns:a16="http://schemas.microsoft.com/office/drawing/2014/main" id="{B60507D9-20D7-4901-86F4-AF6ED667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Внешняя проверка</a:t>
            </a:r>
          </a:p>
        </p:txBody>
      </p:sp>
      <p:sp>
        <p:nvSpPr>
          <p:cNvPr id="10" name="phase-0-dot-0">
            <a:extLst xmlns:a="http://schemas.openxmlformats.org/drawingml/2006/main">
              <a:ext uri="{FF2B5EF4-FFF2-40B4-BE49-F238E27FC236}">
                <a16:creationId xmlns:a16="http://schemas.microsoft.com/office/drawing/2014/main" id="{509D227A-58F8-4C23-AA59-149EC6C4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phase-0-item-0">
            <a:extLst xmlns:a="http://schemas.openxmlformats.org/drawingml/2006/main">
              <a:ext uri="{FF2B5EF4-FFF2-40B4-BE49-F238E27FC236}">
                <a16:creationId xmlns:a16="http://schemas.microsoft.com/office/drawing/2014/main" id="{EF7C5857-887E-4564-A647-A9E1A05A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861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цены и обещания</a:t>
            </a:r>
          </a:p>
        </p:txBody>
      </p:sp>
      <p:sp>
        <p:nvSpPr>
          <p:cNvPr id="12" name="phase-0-dot-1">
            <a:extLst xmlns:a="http://schemas.openxmlformats.org/drawingml/2006/main">
              <a:ext uri="{FF2B5EF4-FFF2-40B4-BE49-F238E27FC236}">
                <a16:creationId xmlns:a16="http://schemas.microsoft.com/office/drawing/2014/main" id="{C46B0029-2DC3-4562-AB67-1E84530E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phase-0-item-1">
            <a:extLst xmlns:a="http://schemas.openxmlformats.org/drawingml/2006/main">
              <a:ext uri="{FF2B5EF4-FFF2-40B4-BE49-F238E27FC236}">
                <a16:creationId xmlns:a16="http://schemas.microsoft.com/office/drawing/2014/main" id="{0D212111-4109-45B7-AA67-4E5873CB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338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карты и отзывы</a:t>
            </a:r>
          </a:p>
        </p:txBody>
      </p:sp>
      <p:sp>
        <p:nvSpPr>
          <p:cNvPr id="14" name="phase-0-dot-2">
            <a:extLst xmlns:a="http://schemas.openxmlformats.org/drawingml/2006/main">
              <a:ext uri="{FF2B5EF4-FFF2-40B4-BE49-F238E27FC236}">
                <a16:creationId xmlns:a16="http://schemas.microsoft.com/office/drawing/2014/main" id="{5F7DE414-3A98-4CB2-98FF-3CA5E367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phase-0-item-2">
            <a:extLst xmlns:a="http://schemas.openxmlformats.org/drawingml/2006/main">
              <a:ext uri="{FF2B5EF4-FFF2-40B4-BE49-F238E27FC236}">
                <a16:creationId xmlns:a16="http://schemas.microsoft.com/office/drawing/2014/main" id="{3CC8C332-9B88-41FB-80A3-9F326002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815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тайный запрос</a:t>
            </a:r>
          </a:p>
        </p:txBody>
      </p:sp>
      <p:sp>
        <p:nvSpPr>
          <p:cNvPr id="16" name="phase-0-rule">
            <a:extLst xmlns:a="http://schemas.openxmlformats.org/drawingml/2006/main">
              <a:ext uri="{FF2B5EF4-FFF2-40B4-BE49-F238E27FC236}">
                <a16:creationId xmlns:a16="http://schemas.microsoft.com/office/drawing/2014/main" id="{B6F2A437-9B1E-4B44-9D49-08CCAD4C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4C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phase-0-gate">
            <a:extLst xmlns:a="http://schemas.openxmlformats.org/drawingml/2006/main">
              <a:ext uri="{FF2B5EF4-FFF2-40B4-BE49-F238E27FC236}">
                <a16:creationId xmlns:a16="http://schemas.microsoft.com/office/drawing/2014/main" id="{20F831CA-DF15-4C7D-8CFD-E1FEC140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ФАКТЫ ПОДТВЕРЖДЕНЫ</a:t>
            </a:r>
          </a:p>
        </p:txBody>
      </p:sp>
      <p:sp>
        <p:nvSpPr>
          <p:cNvPr id="18" name="phase-1">
            <a:extLst xmlns:a="http://schemas.openxmlformats.org/drawingml/2006/main">
              <a:ext uri="{FF2B5EF4-FFF2-40B4-BE49-F238E27FC236}">
                <a16:creationId xmlns:a16="http://schemas.microsoft.com/office/drawing/2014/main" id="{D103CA21-3D60-4B52-ABC2-8B21F4A3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0250"/>
            <a:ext cx="2457450" cy="37147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8E5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19" name="phase-1-days-bg">
            <a:extLst xmlns:a="http://schemas.openxmlformats.org/drawingml/2006/main">
              <a:ext uri="{FF2B5EF4-FFF2-40B4-BE49-F238E27FC236}">
                <a16:creationId xmlns:a16="http://schemas.microsoft.com/office/drawing/2014/main" id="{A19F1681-9630-4FB1-B540-83E2E420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980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phase-1-days-text">
            <a:extLst xmlns:a="http://schemas.openxmlformats.org/drawingml/2006/main">
              <a:ext uri="{FF2B5EF4-FFF2-40B4-BE49-F238E27FC236}">
                <a16:creationId xmlns:a16="http://schemas.microsoft.com/office/drawing/2014/main" id="{29CDF14E-D08B-4D38-B1BD-8D3FBDA3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0980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ДНИ 15–30</a:t>
            </a:r>
          </a:p>
        </p:txBody>
      </p:sp>
      <p:sp>
        <p:nvSpPr>
          <p:cNvPr id="21" name="phase-1-title">
            <a:extLst xmlns:a="http://schemas.openxmlformats.org/drawingml/2006/main">
              <a:ext uri="{FF2B5EF4-FFF2-40B4-BE49-F238E27FC236}">
                <a16:creationId xmlns:a16="http://schemas.microsoft.com/office/drawing/2014/main" id="{812E11F3-5474-4053-BB31-B411E04B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1940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Внутренние ответы</a:t>
            </a:r>
          </a:p>
        </p:txBody>
      </p:sp>
      <p:sp>
        <p:nvSpPr>
          <p:cNvPr id="22" name="phase-1-dot-0">
            <a:extLst xmlns:a="http://schemas.openxmlformats.org/drawingml/2006/main">
              <a:ext uri="{FF2B5EF4-FFF2-40B4-BE49-F238E27FC236}">
                <a16:creationId xmlns:a16="http://schemas.microsoft.com/office/drawing/2014/main" id="{86F983FC-2977-4C7B-B081-3F356868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phase-1-item-0">
            <a:extLst xmlns:a="http://schemas.openxmlformats.org/drawingml/2006/main">
              <a:ext uri="{FF2B5EF4-FFF2-40B4-BE49-F238E27FC236}">
                <a16:creationId xmlns:a16="http://schemas.microsoft.com/office/drawing/2014/main" id="{B9B53A27-2F75-4FB9-97E3-90E2A8C7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861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прибыль</a:t>
            </a:r>
          </a:p>
        </p:txBody>
      </p:sp>
      <p:sp>
        <p:nvSpPr>
          <p:cNvPr id="24" name="phase-1-dot-1">
            <a:extLst xmlns:a="http://schemas.openxmlformats.org/drawingml/2006/main">
              <a:ext uri="{FF2B5EF4-FFF2-40B4-BE49-F238E27FC236}">
                <a16:creationId xmlns:a16="http://schemas.microsoft.com/office/drawing/2014/main" id="{E5AC21C7-A76F-40BA-BBD7-B83EF1E2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29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phase-1-item-1">
            <a:extLst xmlns:a="http://schemas.openxmlformats.org/drawingml/2006/main">
              <a:ext uri="{FF2B5EF4-FFF2-40B4-BE49-F238E27FC236}">
                <a16:creationId xmlns:a16="http://schemas.microsoft.com/office/drawing/2014/main" id="{4B97AB3C-0F7A-4084-86E0-CD1AAA19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9338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мощность и срок</a:t>
            </a:r>
          </a:p>
        </p:txBody>
      </p:sp>
      <p:sp>
        <p:nvSpPr>
          <p:cNvPr id="26" name="phase-1-dot-2">
            <a:extLst xmlns:a="http://schemas.openxmlformats.org/drawingml/2006/main">
              <a:ext uri="{FF2B5EF4-FFF2-40B4-BE49-F238E27FC236}">
                <a16:creationId xmlns:a16="http://schemas.microsoft.com/office/drawing/2014/main" id="{9C3CBE25-E55C-46EC-A2B7-92F34EB2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76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phase-1-item-2">
            <a:extLst xmlns:a="http://schemas.openxmlformats.org/drawingml/2006/main">
              <a:ext uri="{FF2B5EF4-FFF2-40B4-BE49-F238E27FC236}">
                <a16:creationId xmlns:a16="http://schemas.microsoft.com/office/drawing/2014/main" id="{F0CC427E-5BFE-41A3-8A58-62E4E94E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815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учёт и качество</a:t>
            </a:r>
          </a:p>
        </p:txBody>
      </p:sp>
      <p:sp>
        <p:nvSpPr>
          <p:cNvPr id="28" name="phase-1-rule">
            <a:extLst xmlns:a="http://schemas.openxmlformats.org/drawingml/2006/main">
              <a:ext uri="{FF2B5EF4-FFF2-40B4-BE49-F238E27FC236}">
                <a16:creationId xmlns:a16="http://schemas.microsoft.com/office/drawing/2014/main" id="{8A5ED6B1-3300-4318-9BD1-E660125A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6730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phase-1-gate">
            <a:extLst xmlns:a="http://schemas.openxmlformats.org/drawingml/2006/main">
              <a:ext uri="{FF2B5EF4-FFF2-40B4-BE49-F238E27FC236}">
                <a16:creationId xmlns:a16="http://schemas.microsoft.com/office/drawing/2014/main" id="{1D4B1AF1-DADE-4065-B1F3-975FAB37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197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000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D99000"/>
                </a:solidFill>
                <a:latin typeface="Manrope"/>
                <a:ea typeface="Manrope"/>
                <a:cs typeface="Manrope"/>
              </a:rPr>
              <a:t>5 ОТВЕТОВ ПОЛУЧЕНЫ</a:t>
            </a:r>
          </a:p>
        </p:txBody>
      </p:sp>
      <p:sp>
        <p:nvSpPr>
          <p:cNvPr id="30" name="phase-2">
            <a:extLst xmlns:a="http://schemas.openxmlformats.org/drawingml/2006/main">
              <a:ext uri="{FF2B5EF4-FFF2-40B4-BE49-F238E27FC236}">
                <a16:creationId xmlns:a16="http://schemas.microsoft.com/office/drawing/2014/main" id="{AD2377EA-542D-4EF9-9128-FCB42436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2457450" cy="37147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9525">
            <a:solidFill>
              <a:srgbClr val="FFBA24"/>
            </a:solidFill>
            <a:prstDash val="solid"/>
          </a:ln>
        </p:spPr>
      </p:sp>
      <p:sp>
        <p:nvSpPr>
          <p:cNvPr id="31" name="phase-2-days-bg">
            <a:extLst xmlns:a="http://schemas.openxmlformats.org/drawingml/2006/main">
              <a:ext uri="{FF2B5EF4-FFF2-40B4-BE49-F238E27FC236}">
                <a16:creationId xmlns:a16="http://schemas.microsoft.com/office/drawing/2014/main" id="{148D6C01-65AA-4FB3-9930-A6DE4375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0980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phase-2-days-text">
            <a:extLst xmlns:a="http://schemas.openxmlformats.org/drawingml/2006/main">
              <a:ext uri="{FF2B5EF4-FFF2-40B4-BE49-F238E27FC236}">
                <a16:creationId xmlns:a16="http://schemas.microsoft.com/office/drawing/2014/main" id="{9B2CE73C-63BE-49B1-8ACF-C3947387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ДНИ 31–60</a:t>
            </a:r>
          </a:p>
        </p:txBody>
      </p:sp>
      <p:sp>
        <p:nvSpPr>
          <p:cNvPr id="33" name="phase-2-title">
            <a:extLst xmlns:a="http://schemas.openxmlformats.org/drawingml/2006/main">
              <a:ext uri="{FF2B5EF4-FFF2-40B4-BE49-F238E27FC236}">
                <a16:creationId xmlns:a16="http://schemas.microsoft.com/office/drawing/2014/main" id="{E8EE3100-685D-451C-8C8D-F10EBF5A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19400"/>
            <a:ext cx="2038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Ограниченный тест</a:t>
            </a:r>
          </a:p>
        </p:txBody>
      </p:sp>
      <p:sp>
        <p:nvSpPr>
          <p:cNvPr id="34" name="phase-2-dot-0">
            <a:extLst xmlns:a="http://schemas.openxmlformats.org/drawingml/2006/main">
              <a:ext uri="{FF2B5EF4-FFF2-40B4-BE49-F238E27FC236}">
                <a16:creationId xmlns:a16="http://schemas.microsoft.com/office/drawing/2014/main" id="{ACC0B8E5-F774-411D-B021-D4A29730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81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phase-2-item-0">
            <a:extLst xmlns:a="http://schemas.openxmlformats.org/drawingml/2006/main">
              <a:ext uri="{FF2B5EF4-FFF2-40B4-BE49-F238E27FC236}">
                <a16:creationId xmlns:a16="http://schemas.microsoft.com/office/drawing/2014/main" id="{7FAAB2C6-4123-478F-92E2-0354C376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3 точки</a:t>
            </a:r>
          </a:p>
        </p:txBody>
      </p:sp>
      <p:sp>
        <p:nvSpPr>
          <p:cNvPr id="36" name="phase-2-dot-1">
            <a:extLst xmlns:a="http://schemas.openxmlformats.org/drawingml/2006/main">
              <a:ext uri="{FF2B5EF4-FFF2-40B4-BE49-F238E27FC236}">
                <a16:creationId xmlns:a16="http://schemas.microsoft.com/office/drawing/2014/main" id="{477E8CCE-1023-446A-82C9-E335D155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29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phase-2-item-1">
            <a:extLst xmlns:a="http://schemas.openxmlformats.org/drawingml/2006/main">
              <a:ext uri="{FF2B5EF4-FFF2-40B4-BE49-F238E27FC236}">
                <a16:creationId xmlns:a16="http://schemas.microsoft.com/office/drawing/2014/main" id="{D229B168-2A88-4148-85D1-A1ED7B12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33825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карты + поиск</a:t>
            </a:r>
          </a:p>
        </p:txBody>
      </p:sp>
      <p:sp>
        <p:nvSpPr>
          <p:cNvPr id="38" name="phase-2-dot-2">
            <a:extLst xmlns:a="http://schemas.openxmlformats.org/drawingml/2006/main">
              <a:ext uri="{FF2B5EF4-FFF2-40B4-BE49-F238E27FC236}">
                <a16:creationId xmlns:a16="http://schemas.microsoft.com/office/drawing/2014/main" id="{69500238-EC53-4DAA-935D-2CEBA4D2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76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phase-2-item-2">
            <a:extLst xmlns:a="http://schemas.openxmlformats.org/drawingml/2006/main">
              <a:ext uri="{FF2B5EF4-FFF2-40B4-BE49-F238E27FC236}">
                <a16:creationId xmlns:a16="http://schemas.microsoft.com/office/drawing/2014/main" id="{F67680C3-0848-4613-82E0-45A72774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381500"/>
            <a:ext cx="182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30–50 обращений</a:t>
            </a:r>
          </a:p>
        </p:txBody>
      </p:sp>
      <p:sp>
        <p:nvSpPr>
          <p:cNvPr id="40" name="phase-2-rule">
            <a:extLst xmlns:a="http://schemas.openxmlformats.org/drawingml/2006/main">
              <a:ext uri="{FF2B5EF4-FFF2-40B4-BE49-F238E27FC236}">
                <a16:creationId xmlns:a16="http://schemas.microsoft.com/office/drawing/2014/main" id="{594550F6-C208-4474-AFB4-2B69A029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67300"/>
            <a:ext cx="203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phase-2-gate">
            <a:extLst xmlns:a="http://schemas.openxmlformats.org/drawingml/2006/main">
              <a:ext uri="{FF2B5EF4-FFF2-40B4-BE49-F238E27FC236}">
                <a16:creationId xmlns:a16="http://schemas.microsoft.com/office/drawing/2014/main" id="{146B5937-32A1-4DB0-9172-5073E89B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2038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ЭКОНОМИКА ВИДНА</a:t>
            </a:r>
          </a:p>
        </p:txBody>
      </p:sp>
      <p:sp>
        <p:nvSpPr>
          <p:cNvPr id="42" name="phase-3">
            <a:extLst xmlns:a="http://schemas.openxmlformats.org/drawingml/2006/main">
              <a:ext uri="{FF2B5EF4-FFF2-40B4-BE49-F238E27FC236}">
                <a16:creationId xmlns:a16="http://schemas.microsoft.com/office/drawing/2014/main" id="{082149DA-307A-484C-BCBA-B94DDA9E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00250"/>
            <a:ext cx="2990850" cy="37147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7F5FA"/>
          </a:solidFill>
          <a:ln xmlns:a="http://schemas.openxmlformats.org/drawingml/2006/main" w="9525">
            <a:solidFill>
              <a:srgbClr val="E7E3EC"/>
            </a:solidFill>
            <a:prstDash val="solid"/>
          </a:ln>
        </p:spPr>
      </p:sp>
      <p:sp>
        <p:nvSpPr>
          <p:cNvPr id="43" name="phase-3-days-bg">
            <a:extLst xmlns:a="http://schemas.openxmlformats.org/drawingml/2006/main">
              <a:ext uri="{FF2B5EF4-FFF2-40B4-BE49-F238E27FC236}">
                <a16:creationId xmlns:a16="http://schemas.microsoft.com/office/drawing/2014/main" id="{CC42A9FC-6654-47EA-8E96-0A89F79D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09800"/>
            <a:ext cx="1066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phase-3-days-text">
            <a:extLst xmlns:a="http://schemas.openxmlformats.org/drawingml/2006/main">
              <a:ext uri="{FF2B5EF4-FFF2-40B4-BE49-F238E27FC236}">
                <a16:creationId xmlns:a16="http://schemas.microsoft.com/office/drawing/2014/main" id="{169765D4-35B7-45BF-81B4-DD090E25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9800"/>
            <a:ext cx="838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ДНИ 61–90</a:t>
            </a:r>
          </a:p>
        </p:txBody>
      </p:sp>
      <p:sp>
        <p:nvSpPr>
          <p:cNvPr id="45" name="phase-3-title">
            <a:extLst xmlns:a="http://schemas.openxmlformats.org/drawingml/2006/main">
              <a:ext uri="{FF2B5EF4-FFF2-40B4-BE49-F238E27FC236}">
                <a16:creationId xmlns:a16="http://schemas.microsoft.com/office/drawing/2014/main" id="{B9CB816F-855C-4381-AD5C-C36B5EA6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194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72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Масштаб или стоп</a:t>
            </a:r>
          </a:p>
        </p:txBody>
      </p:sp>
      <p:sp>
        <p:nvSpPr>
          <p:cNvPr id="46" name="phase-3-dot-0">
            <a:extLst xmlns:a="http://schemas.openxmlformats.org/drawingml/2006/main">
              <a:ext uri="{FF2B5EF4-FFF2-40B4-BE49-F238E27FC236}">
                <a16:creationId xmlns:a16="http://schemas.microsoft.com/office/drawing/2014/main" id="{026D6173-F041-4F53-BDFB-2EF5EA49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814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phase-3-item-0">
            <a:extLst xmlns:a="http://schemas.openxmlformats.org/drawingml/2006/main">
              <a:ext uri="{FF2B5EF4-FFF2-40B4-BE49-F238E27FC236}">
                <a16:creationId xmlns:a16="http://schemas.microsoft.com/office/drawing/2014/main" id="{61674C0E-58B7-444A-9DDF-C2167BFA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86150"/>
            <a:ext cx="2362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4 прибыльные недели</a:t>
            </a:r>
          </a:p>
        </p:txBody>
      </p:sp>
      <p:sp>
        <p:nvSpPr>
          <p:cNvPr id="48" name="phase-3-dot-1">
            <a:extLst xmlns:a="http://schemas.openxmlformats.org/drawingml/2006/main">
              <a:ext uri="{FF2B5EF4-FFF2-40B4-BE49-F238E27FC236}">
                <a16:creationId xmlns:a16="http://schemas.microsoft.com/office/drawing/2014/main" id="{8E62AE25-58B4-4B84-B0C8-7AB4F0F9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0290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phase-3-item-1">
            <a:extLst xmlns:a="http://schemas.openxmlformats.org/drawingml/2006/main">
              <a:ext uri="{FF2B5EF4-FFF2-40B4-BE49-F238E27FC236}">
                <a16:creationId xmlns:a16="http://schemas.microsoft.com/office/drawing/2014/main" id="{3808A607-920B-43B5-A0F2-206EAF93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33825"/>
            <a:ext cx="2362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подключение РСЯ</a:t>
            </a:r>
          </a:p>
        </p:txBody>
      </p:sp>
      <p:sp>
        <p:nvSpPr>
          <p:cNvPr id="50" name="phase-3-dot-2">
            <a:extLst xmlns:a="http://schemas.openxmlformats.org/drawingml/2006/main">
              <a:ext uri="{FF2B5EF4-FFF2-40B4-BE49-F238E27FC236}">
                <a16:creationId xmlns:a16="http://schemas.microsoft.com/office/drawing/2014/main" id="{F15FDF66-3737-40D4-93F6-6FCA973E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76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6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phase-3-item-2">
            <a:extLst xmlns:a="http://schemas.openxmlformats.org/drawingml/2006/main">
              <a:ext uri="{FF2B5EF4-FFF2-40B4-BE49-F238E27FC236}">
                <a16:creationId xmlns:a16="http://schemas.microsoft.com/office/drawing/2014/main" id="{D3DBB5BB-2847-45ED-8301-0A49C8FE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81500"/>
            <a:ext cx="2362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F2937"/>
                </a:solidFill>
                <a:latin typeface="Manrope"/>
                <a:ea typeface="Manrope"/>
                <a:cs typeface="Manrope"/>
              </a:defRPr>
            </a:pPr>
            <a:r>
              <a:rPr sz="1125" b="0">
                <a:solidFill>
                  <a:srgbClr val="1F2937"/>
                </a:solidFill>
                <a:latin typeface="Manrope"/>
                <a:ea typeface="Manrope"/>
                <a:cs typeface="Manrope"/>
              </a:rPr>
              <a:t>решение по сегментам</a:t>
            </a:r>
          </a:p>
        </p:txBody>
      </p:sp>
      <p:sp>
        <p:nvSpPr>
          <p:cNvPr id="52" name="phase-3-rule">
            <a:extLst xmlns:a="http://schemas.openxmlformats.org/drawingml/2006/main">
              <a:ext uri="{FF2B5EF4-FFF2-40B4-BE49-F238E27FC236}">
                <a16:creationId xmlns:a16="http://schemas.microsoft.com/office/drawing/2014/main" id="{430C095F-CABB-4651-9D07-7EE5E490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673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phase-3-gate">
            <a:extLst xmlns:a="http://schemas.openxmlformats.org/drawingml/2006/main">
              <a:ext uri="{FF2B5EF4-FFF2-40B4-BE49-F238E27FC236}">
                <a16:creationId xmlns:a16="http://schemas.microsoft.com/office/drawing/2014/main" id="{BF910243-4BF0-49E7-9776-486BF564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2197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000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D99000"/>
                </a:solidFill>
                <a:latin typeface="Manrope"/>
                <a:ea typeface="Manrope"/>
                <a:cs typeface="Manrope"/>
              </a:rPr>
              <a:t>ЕСТЬ РЕШЕНИЕ</a:t>
            </a:r>
          </a:p>
        </p:txBody>
      </p:sp>
      <p:sp>
        <p:nvSpPr>
          <p:cNvPr id="54" name="roadmap-result">
            <a:extLst xmlns:a="http://schemas.openxmlformats.org/drawingml/2006/main">
              <a:ext uri="{FF2B5EF4-FFF2-40B4-BE49-F238E27FC236}">
                <a16:creationId xmlns:a16="http://schemas.microsoft.com/office/drawing/2014/main" id="{2F6C4045-5B7A-44B7-99EA-C1FFCE2D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Результат 90 дней — не “настроенная реклама”, а доказанный или отвергнутый способ привлекать частных клиентов.</a:t>
            </a:r>
          </a:p>
        </p:txBody>
      </p:sp>
      <p:sp>
        <p:nvSpPr>
          <p:cNvPr id="5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BC1CE71-9A97-4C64-8529-C74F7AB0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3D09151-2B8E-4C54-B99E-CE4F1132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B87"/>
                </a:solidFill>
                <a:latin typeface="Manrope"/>
                <a:ea typeface="Manrope"/>
                <a:cs typeface="Manrope"/>
              </a:defRPr>
            </a:pPr>
            <a:r>
              <a:rPr sz="750" b="0">
                <a:solidFill>
                  <a:srgbClr val="626B87"/>
                </a:solidFill>
                <a:latin typeface="Manrope"/>
                <a:ea typeface="Manrope"/>
                <a:cs typeface="Manrope"/>
              </a:rPr>
              <a:t>Рекомендуемый порядок проверки B2C-стратегии</a:t>
            </a:r>
          </a:p>
        </p:txBody>
      </p:sp>
      <p:sp>
        <p:nvSpPr>
          <p:cNvPr id="57" name="page-marker">
            <a:extLst xmlns:a="http://schemas.openxmlformats.org/drawingml/2006/main">
              <a:ext uri="{FF2B5EF4-FFF2-40B4-BE49-F238E27FC236}">
                <a16:creationId xmlns:a16="http://schemas.microsoft.com/office/drawing/2014/main" id="{18A10D74-7200-4383-90AE-810B1954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7814589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903911B-EE75-4C97-A67F-D348451D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223A"/>
          </a:solidFill>
          <a:ln xmlns:a="http://schemas.openxmlformats.org/drawingml/2006/main" w="0">
            <a:solidFill>
              <a:srgbClr val="2B223A"/>
            </a:solidFill>
            <a:prstDash val="solid"/>
          </a:ln>
        </p:spPr>
      </p:sp>
      <p:sp>
        <p:nvSpPr>
          <p:cNvPr id="2" name="brand-ananas">
            <a:extLst xmlns:a="http://schemas.openxmlformats.org/drawingml/2006/main">
              <a:ext uri="{FF2B5EF4-FFF2-40B4-BE49-F238E27FC236}">
                <a16:creationId xmlns:a16="http://schemas.microsoft.com/office/drawing/2014/main" id="{67444D28-EBF4-499C-9307-16C0FF06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АНАНАС</a:t>
            </a:r>
          </a:p>
        </p:txBody>
      </p:sp>
      <p:sp>
        <p:nvSpPr>
          <p:cNvPr id="3" name="brand-marketing">
            <a:extLst xmlns:a="http://schemas.openxmlformats.org/drawingml/2006/main">
              <a:ext uri="{FF2B5EF4-FFF2-40B4-BE49-F238E27FC236}">
                <a16:creationId xmlns:a16="http://schemas.microsoft.com/office/drawing/2014/main" id="{196B6126-372F-40A3-9042-A887246C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40005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МАРКЕТИНГ</a:t>
            </a:r>
          </a:p>
        </p:txBody>
      </p:sp>
      <p:sp>
        <p:nvSpPr>
          <p:cNvPr id="4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E135455-4328-415F-8E9F-34A03123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42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34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Следующий шаг — не бюджет.</a:t>
            </a:r>
          </a:p>
        </p:txBody>
      </p:sp>
      <p:sp>
        <p:nvSpPr>
          <p:cNvPr id="5" name="close-subtitle">
            <a:extLst xmlns:a="http://schemas.openxmlformats.org/drawingml/2006/main">
              <a:ext uri="{FF2B5EF4-FFF2-40B4-BE49-F238E27FC236}">
                <a16:creationId xmlns:a16="http://schemas.microsoft.com/office/drawing/2014/main" id="{AF81B720-4FA9-4F92-90B4-1A0A71D9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2025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Сначала пять внутренних ответов и 7–10 дней внешней проверки.</a:t>
            </a:r>
          </a:p>
        </p:txBody>
      </p:sp>
      <p:sp>
        <p:nvSpPr>
          <p:cNvPr id="6" name="answer-0">
            <a:extLst xmlns:a="http://schemas.openxmlformats.org/drawingml/2006/main">
              <a:ext uri="{FF2B5EF4-FFF2-40B4-BE49-F238E27FC236}">
                <a16:creationId xmlns:a16="http://schemas.microsoft.com/office/drawing/2014/main" id="{0D07DA01-615E-4B74-BCE0-AE4D84E5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8859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A2F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answer-0-circle">
            <a:extLst xmlns:a="http://schemas.openxmlformats.org/drawingml/2006/main">
              <a:ext uri="{FF2B5EF4-FFF2-40B4-BE49-F238E27FC236}">
                <a16:creationId xmlns:a16="http://schemas.microsoft.com/office/drawing/2014/main" id="{3130469E-7113-49C2-985F-9DB9BD66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answer-0-label">
            <a:extLst xmlns:a="http://schemas.openxmlformats.org/drawingml/2006/main">
              <a:ext uri="{FF2B5EF4-FFF2-40B4-BE49-F238E27FC236}">
                <a16:creationId xmlns:a16="http://schemas.microsoft.com/office/drawing/2014/main" id="{51A829AF-95C6-439A-B90E-FF2EC8EE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1</a:t>
            </a:r>
          </a:p>
        </p:txBody>
      </p:sp>
      <p:sp>
        <p:nvSpPr>
          <p:cNvPr id="9" name="answer-0-label">
            <a:extLst xmlns:a="http://schemas.openxmlformats.org/drawingml/2006/main">
              <a:ext uri="{FF2B5EF4-FFF2-40B4-BE49-F238E27FC236}">
                <a16:creationId xmlns:a16="http://schemas.microsoft.com/office/drawing/2014/main" id="{51B11779-C4AD-47AC-B87A-BAFBA092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765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Прибыль</a:t>
            </a:r>
          </a:p>
        </p:txBody>
      </p:sp>
      <p:sp>
        <p:nvSpPr>
          <p:cNvPr id="10" name="answer-1">
            <a:extLst xmlns:a="http://schemas.openxmlformats.org/drawingml/2006/main">
              <a:ext uri="{FF2B5EF4-FFF2-40B4-BE49-F238E27FC236}">
                <a16:creationId xmlns:a16="http://schemas.microsoft.com/office/drawing/2014/main" id="{D558D2D3-A968-48D4-8FB2-2CC01F9D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47950"/>
            <a:ext cx="18859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A2F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answer-1-circle">
            <a:extLst xmlns:a="http://schemas.openxmlformats.org/drawingml/2006/main">
              <a:ext uri="{FF2B5EF4-FFF2-40B4-BE49-F238E27FC236}">
                <a16:creationId xmlns:a16="http://schemas.microsoft.com/office/drawing/2014/main" id="{9C27D778-0C6E-4C9E-8104-DCA96296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28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answer-1-label">
            <a:extLst xmlns:a="http://schemas.openxmlformats.org/drawingml/2006/main">
              <a:ext uri="{FF2B5EF4-FFF2-40B4-BE49-F238E27FC236}">
                <a16:creationId xmlns:a16="http://schemas.microsoft.com/office/drawing/2014/main" id="{15CDBB74-5433-4D78-BE12-FE2F14B5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19400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2</a:t>
            </a:r>
          </a:p>
        </p:txBody>
      </p:sp>
      <p:sp>
        <p:nvSpPr>
          <p:cNvPr id="13" name="answer-1-label">
            <a:extLst xmlns:a="http://schemas.openxmlformats.org/drawingml/2006/main">
              <a:ext uri="{FF2B5EF4-FFF2-40B4-BE49-F238E27FC236}">
                <a16:creationId xmlns:a16="http://schemas.microsoft.com/office/drawing/2014/main" id="{78A30611-A033-4ECB-BFE2-DBA4437D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Мощность</a:t>
            </a:r>
          </a:p>
        </p:txBody>
      </p:sp>
      <p:sp>
        <p:nvSpPr>
          <p:cNvPr id="14" name="answer-2">
            <a:extLst xmlns:a="http://schemas.openxmlformats.org/drawingml/2006/main">
              <a:ext uri="{FF2B5EF4-FFF2-40B4-BE49-F238E27FC236}">
                <a16:creationId xmlns:a16="http://schemas.microsoft.com/office/drawing/2014/main" id="{AB24EF60-0EBF-4EE0-9C79-7093A70A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647950"/>
            <a:ext cx="18859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A2F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answer-2-circle">
            <a:extLst xmlns:a="http://schemas.openxmlformats.org/drawingml/2006/main">
              <a:ext uri="{FF2B5EF4-FFF2-40B4-BE49-F238E27FC236}">
                <a16:creationId xmlns:a16="http://schemas.microsoft.com/office/drawing/2014/main" id="{CD5F5831-C50E-47D0-B741-EB4A69E1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28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answer-2-label">
            <a:extLst xmlns:a="http://schemas.openxmlformats.org/drawingml/2006/main">
              <a:ext uri="{FF2B5EF4-FFF2-40B4-BE49-F238E27FC236}">
                <a16:creationId xmlns:a16="http://schemas.microsoft.com/office/drawing/2014/main" id="{0C18A964-428F-4D1A-968F-59093DF3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19400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3</a:t>
            </a:r>
          </a:p>
        </p:txBody>
      </p:sp>
      <p:sp>
        <p:nvSpPr>
          <p:cNvPr id="17" name="answer-2-label">
            <a:extLst xmlns:a="http://schemas.openxmlformats.org/drawingml/2006/main">
              <a:ext uri="{FF2B5EF4-FFF2-40B4-BE49-F238E27FC236}">
                <a16:creationId xmlns:a16="http://schemas.microsoft.com/office/drawing/2014/main" id="{D53CF645-4D0B-4D3A-8071-49354060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765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Срок</a:t>
            </a:r>
          </a:p>
        </p:txBody>
      </p:sp>
      <p:sp>
        <p:nvSpPr>
          <p:cNvPr id="18" name="answer-3">
            <a:extLst xmlns:a="http://schemas.openxmlformats.org/drawingml/2006/main">
              <a:ext uri="{FF2B5EF4-FFF2-40B4-BE49-F238E27FC236}">
                <a16:creationId xmlns:a16="http://schemas.microsoft.com/office/drawing/2014/main" id="{187933E4-76C9-4287-AFD9-53D3391B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47950"/>
            <a:ext cx="18859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A2F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answer-3-circle">
            <a:extLst xmlns:a="http://schemas.openxmlformats.org/drawingml/2006/main">
              <a:ext uri="{FF2B5EF4-FFF2-40B4-BE49-F238E27FC236}">
                <a16:creationId xmlns:a16="http://schemas.microsoft.com/office/drawing/2014/main" id="{F3F04D60-BD59-472F-87E7-66B0A211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28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answer-3-label">
            <a:extLst xmlns:a="http://schemas.openxmlformats.org/drawingml/2006/main">
              <a:ext uri="{FF2B5EF4-FFF2-40B4-BE49-F238E27FC236}">
                <a16:creationId xmlns:a16="http://schemas.microsoft.com/office/drawing/2014/main" id="{BE247A47-A116-434F-9A29-47992A60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19400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4</a:t>
            </a:r>
          </a:p>
        </p:txBody>
      </p:sp>
      <p:sp>
        <p:nvSpPr>
          <p:cNvPr id="21" name="answer-3-label">
            <a:extLst xmlns:a="http://schemas.openxmlformats.org/drawingml/2006/main">
              <a:ext uri="{FF2B5EF4-FFF2-40B4-BE49-F238E27FC236}">
                <a16:creationId xmlns:a16="http://schemas.microsoft.com/office/drawing/2014/main" id="{C613E61D-FADF-42F6-814C-E3C8FCBF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765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Учёт</a:t>
            </a:r>
          </a:p>
        </p:txBody>
      </p:sp>
      <p:sp>
        <p:nvSpPr>
          <p:cNvPr id="22" name="answer-4">
            <a:extLst xmlns:a="http://schemas.openxmlformats.org/drawingml/2006/main">
              <a:ext uri="{FF2B5EF4-FFF2-40B4-BE49-F238E27FC236}">
                <a16:creationId xmlns:a16="http://schemas.microsoft.com/office/drawing/2014/main" id="{E1BDC355-EA56-4534-8E14-B1234FAB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8859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3A2F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answer-4-circle">
            <a:extLst xmlns:a="http://schemas.openxmlformats.org/drawingml/2006/main">
              <a:ext uri="{FF2B5EF4-FFF2-40B4-BE49-F238E27FC236}">
                <a16:creationId xmlns:a16="http://schemas.microsoft.com/office/drawing/2014/main" id="{BFAF2666-5720-4144-92D3-7D604EFB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289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answer-4-label">
            <a:extLst xmlns:a="http://schemas.openxmlformats.org/drawingml/2006/main">
              <a:ext uri="{FF2B5EF4-FFF2-40B4-BE49-F238E27FC236}">
                <a16:creationId xmlns:a16="http://schemas.microsoft.com/office/drawing/2014/main" id="{2ABFEB93-1D3A-4770-8F96-49B8E96D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19400"/>
            <a:ext cx="361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5</a:t>
            </a:r>
          </a:p>
        </p:txBody>
      </p:sp>
      <p:sp>
        <p:nvSpPr>
          <p:cNvPr id="25" name="answer-4-label">
            <a:extLst xmlns:a="http://schemas.openxmlformats.org/drawingml/2006/main">
              <a:ext uri="{FF2B5EF4-FFF2-40B4-BE49-F238E27FC236}">
                <a16:creationId xmlns:a16="http://schemas.microsoft.com/office/drawing/2014/main" id="{F8AABC3E-65AC-4A45-B995-90715CE5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765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Качество</a:t>
            </a:r>
          </a:p>
        </p:txBody>
      </p:sp>
      <p:sp>
        <p:nvSpPr>
          <p:cNvPr id="26" name="actions-kicker">
            <a:extLst xmlns:a="http://schemas.openxmlformats.org/drawingml/2006/main">
              <a:ext uri="{FF2B5EF4-FFF2-40B4-BE49-F238E27FC236}">
                <a16:creationId xmlns:a16="http://schemas.microsoft.com/office/drawing/2014/main" id="{A7EFF4EC-846A-4A2C-9E95-9E65EAAC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FC7D8"/>
                </a:solidFill>
                <a:latin typeface="Manrope"/>
                <a:ea typeface="Manrope"/>
                <a:cs typeface="Manrope"/>
              </a:defRPr>
            </a:pPr>
            <a:r>
              <a:rPr sz="1050" b="1">
                <a:solidFill>
                  <a:srgbClr val="CFC7D8"/>
                </a:solidFill>
                <a:latin typeface="Manrope"/>
                <a:ea typeface="Manrope"/>
                <a:cs typeface="Manrope"/>
              </a:rPr>
              <a:t>ЧТО ДЕЛАЕМ СРАЗУ</a:t>
            </a:r>
          </a:p>
        </p:txBody>
      </p:sp>
      <p:sp>
        <p:nvSpPr>
          <p:cNvPr id="27" name="action-0">
            <a:extLst xmlns:a="http://schemas.openxmlformats.org/drawingml/2006/main">
              <a:ext uri="{FF2B5EF4-FFF2-40B4-BE49-F238E27FC236}">
                <a16:creationId xmlns:a16="http://schemas.microsoft.com/office/drawing/2014/main" id="{F6CC3782-0377-45FF-8D04-C7861070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3314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BA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action-0-num">
            <a:extLst xmlns:a="http://schemas.openxmlformats.org/drawingml/2006/main">
              <a:ext uri="{FF2B5EF4-FFF2-40B4-BE49-F238E27FC236}">
                <a16:creationId xmlns:a16="http://schemas.microsoft.com/office/drawing/2014/main" id="{980ED938-D352-4DC4-985D-A7F0E886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29" name="action-0-title">
            <a:extLst xmlns:a="http://schemas.openxmlformats.org/drawingml/2006/main">
              <a:ext uri="{FF2B5EF4-FFF2-40B4-BE49-F238E27FC236}">
                <a16:creationId xmlns:a16="http://schemas.microsoft.com/office/drawing/2014/main" id="{F3063667-AB61-4A76-8FFB-8D009D49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223A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2B223A"/>
                </a:solidFill>
                <a:latin typeface="Manrope"/>
                <a:ea typeface="Manrope"/>
                <a:cs typeface="Manrope"/>
              </a:rPr>
              <a:t>Сводим точки</a:t>
            </a:r>
          </a:p>
        </p:txBody>
      </p:sp>
      <p:sp>
        <p:nvSpPr>
          <p:cNvPr id="30" name="action-0-note">
            <a:extLst xmlns:a="http://schemas.openxmlformats.org/drawingml/2006/main">
              <a:ext uri="{FF2B5EF4-FFF2-40B4-BE49-F238E27FC236}">
                <a16:creationId xmlns:a16="http://schemas.microsoft.com/office/drawing/2014/main" id="{74FF9D3E-6ABA-48D4-8733-1916D19C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2A06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582A06"/>
                </a:solidFill>
                <a:latin typeface="Manrope"/>
                <a:ea typeface="Manrope"/>
                <a:cs typeface="Manrope"/>
              </a:rPr>
              <a:t>цены · услуги · фото · отзывы</a:t>
            </a:r>
          </a:p>
        </p:txBody>
      </p:sp>
      <p:sp>
        <p:nvSpPr>
          <p:cNvPr id="31" name="action-1">
            <a:extLst xmlns:a="http://schemas.openxmlformats.org/drawingml/2006/main">
              <a:ext uri="{FF2B5EF4-FFF2-40B4-BE49-F238E27FC236}">
                <a16:creationId xmlns:a16="http://schemas.microsoft.com/office/drawing/2014/main" id="{BB91C549-EFBA-4180-8D8C-A3A26A0B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14850"/>
            <a:ext cx="3314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3A2F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action-1-num">
            <a:extLst xmlns:a="http://schemas.openxmlformats.org/drawingml/2006/main">
              <a:ext uri="{FF2B5EF4-FFF2-40B4-BE49-F238E27FC236}">
                <a16:creationId xmlns:a16="http://schemas.microsoft.com/office/drawing/2014/main" id="{FEAB30AC-40AA-44D8-9055-4E3D58D8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053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33" name="action-1-title">
            <a:extLst xmlns:a="http://schemas.openxmlformats.org/drawingml/2006/main">
              <a:ext uri="{FF2B5EF4-FFF2-40B4-BE49-F238E27FC236}">
                <a16:creationId xmlns:a16="http://schemas.microsoft.com/office/drawing/2014/main" id="{7914F56C-4769-4F9A-8258-08EC2B92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672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Делаем тайный запрос</a:t>
            </a:r>
          </a:p>
        </p:txBody>
      </p:sp>
      <p:sp>
        <p:nvSpPr>
          <p:cNvPr id="34" name="action-1-note">
            <a:extLst xmlns:a="http://schemas.openxmlformats.org/drawingml/2006/main">
              <a:ext uri="{FF2B5EF4-FFF2-40B4-BE49-F238E27FC236}">
                <a16:creationId xmlns:a16="http://schemas.microsoft.com/office/drawing/2014/main" id="{364ED807-06E3-47A1-A1E7-3FDACB8E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067300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D1E2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D9D1E2"/>
                </a:solidFill>
                <a:latin typeface="Manrope"/>
                <a:ea typeface="Manrope"/>
                <a:cs typeface="Manrope"/>
              </a:rPr>
              <a:t>скорость · ясность · следующий шаг</a:t>
            </a:r>
          </a:p>
        </p:txBody>
      </p:sp>
      <p:sp>
        <p:nvSpPr>
          <p:cNvPr id="35" name="action-2">
            <a:extLst xmlns:a="http://schemas.openxmlformats.org/drawingml/2006/main">
              <a:ext uri="{FF2B5EF4-FFF2-40B4-BE49-F238E27FC236}">
                <a16:creationId xmlns:a16="http://schemas.microsoft.com/office/drawing/2014/main" id="{D63EF974-8177-4A77-9FA5-A15C3FD7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3147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3A2F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action-2-num">
            <a:extLst xmlns:a="http://schemas.openxmlformats.org/drawingml/2006/main">
              <a:ext uri="{FF2B5EF4-FFF2-40B4-BE49-F238E27FC236}">
                <a16:creationId xmlns:a16="http://schemas.microsoft.com/office/drawing/2014/main" id="{0F4B4ABB-BA56-473D-A79C-C30225A5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05350"/>
            <a:ext cx="47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135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37" name="action-2-title">
            <a:extLst xmlns:a="http://schemas.openxmlformats.org/drawingml/2006/main">
              <a:ext uri="{FF2B5EF4-FFF2-40B4-BE49-F238E27FC236}">
                <a16:creationId xmlns:a16="http://schemas.microsoft.com/office/drawing/2014/main" id="{BCCDFE43-CE72-4149-A571-5DCB4174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672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anrope"/>
                <a:ea typeface="Manrope"/>
                <a:cs typeface="Manrope"/>
              </a:defRPr>
            </a:pPr>
            <a:r>
              <a:rPr sz="1500" b="1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Собираем страницу</a:t>
            </a:r>
          </a:p>
        </p:txBody>
      </p:sp>
      <p:sp>
        <p:nvSpPr>
          <p:cNvPr id="38" name="action-2-note">
            <a:extLst xmlns:a="http://schemas.openxmlformats.org/drawingml/2006/main">
              <a:ext uri="{FF2B5EF4-FFF2-40B4-BE49-F238E27FC236}">
                <a16:creationId xmlns:a16="http://schemas.microsoft.com/office/drawing/2014/main" id="{25C096E8-C501-4F9D-9D57-637F0DE5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67300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D1E2"/>
                </a:solidFill>
                <a:latin typeface="Manrope"/>
                <a:ea typeface="Manrope"/>
                <a:cs typeface="Manrope"/>
              </a:defRPr>
            </a:pPr>
            <a:r>
              <a:rPr sz="1050" b="0">
                <a:solidFill>
                  <a:srgbClr val="D9D1E2"/>
                </a:solidFill>
                <a:latin typeface="Manrope"/>
                <a:ea typeface="Manrope"/>
                <a:cs typeface="Manrope"/>
              </a:rPr>
              <a:t>обещание · доказательства · форма</a:t>
            </a:r>
          </a:p>
        </p:txBody>
      </p:sp>
      <p:sp>
        <p:nvSpPr>
          <p:cNvPr id="3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C31C509-8BD0-4583-8B9D-050ABDE4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4C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6E86257-8D46-4855-A50D-2005EE10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933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FC7D8"/>
                </a:solidFill>
                <a:latin typeface="Manrope"/>
                <a:ea typeface="Manrope"/>
                <a:cs typeface="Manrope"/>
              </a:defRPr>
            </a:pPr>
            <a:r>
              <a:rPr sz="750" b="0">
                <a:solidFill>
                  <a:srgbClr val="CFC7D8"/>
                </a:solidFill>
                <a:latin typeface="Manrope"/>
                <a:ea typeface="Manrope"/>
                <a:cs typeface="Manrope"/>
              </a:rPr>
              <a:t>UNISEC · стратегия привлечения частных клиентов</a:t>
            </a:r>
          </a:p>
        </p:txBody>
      </p:sp>
      <p:sp>
        <p:nvSpPr>
          <p:cNvPr id="41" name="page-marker">
            <a:extLst xmlns:a="http://schemas.openxmlformats.org/drawingml/2006/main">
              <a:ext uri="{FF2B5EF4-FFF2-40B4-BE49-F238E27FC236}">
                <a16:creationId xmlns:a16="http://schemas.microsoft.com/office/drawing/2014/main" id="{FD4B06CE-4286-4E5F-A4CA-06ED9B74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86525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BA24"/>
                </a:solidFill>
                <a:latin typeface="Manrope"/>
                <a:ea typeface="Manrope"/>
                <a:cs typeface="Manrope"/>
              </a:defRPr>
            </a:pPr>
            <a:r>
              <a:rPr sz="900" b="1">
                <a:solidFill>
                  <a:srgbClr val="FFBA24"/>
                </a:solidFill>
                <a:latin typeface="Manrope"/>
                <a:ea typeface="Manrope"/>
                <a:cs typeface="Manrop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62691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2026-08-11T14:52:27.4900000Z</dcterms:created>
  <dcterms:modified xsi:type="dcterms:W3CDTF">2026-08-11T14:52:27.4910000Z</dcterms:modified>
</coreProperties>
</file>